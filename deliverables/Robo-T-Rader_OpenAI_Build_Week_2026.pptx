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df182af1914512" /><Relationship Type="http://schemas.openxmlformats.org/officeDocument/2006/relationships/extended-properties" Target="/docProps/app.xml" Id="Rcd7bc04f56f7496e" /><Relationship Type="http://schemas.openxmlformats.org/officeDocument/2006/relationships/officeDocument" Target="/ppt/presentation.xml" Id="R0d6515790a5843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599ace06504e35"/>
  </p:sldMasterIdLst>
  <p:notesMasterIdLst>
    <p:notesMasterId xmlns:r="http://schemas.openxmlformats.org/officeDocument/2006/relationships" r:id="R83958e6f92364cbc"/>
  </p:notesMasterIdLst>
  <p:sldIdLst>
    <p:sldId xmlns:r="http://schemas.openxmlformats.org/officeDocument/2006/relationships" id="256" r:id="Re85942ac1fea4c81"/>
    <p:sldId xmlns:r="http://schemas.openxmlformats.org/officeDocument/2006/relationships" id="257" r:id="R7ad698423490418c"/>
    <p:sldId xmlns:r="http://schemas.openxmlformats.org/officeDocument/2006/relationships" id="258" r:id="R1a12b091d74e4959"/>
    <p:sldId xmlns:r="http://schemas.openxmlformats.org/officeDocument/2006/relationships" id="259" r:id="R9a09d846c31e4e32"/>
    <p:sldId xmlns:r="http://schemas.openxmlformats.org/officeDocument/2006/relationships" id="260" r:id="R72b929a8d7af4533"/>
    <p:sldId xmlns:r="http://schemas.openxmlformats.org/officeDocument/2006/relationships" id="261" r:id="R3c11ed85880a4a22"/>
    <p:sldId xmlns:r="http://schemas.openxmlformats.org/officeDocument/2006/relationships" id="262" r:id="Rfa8f8dd58cdf4f6e"/>
    <p:sldId xmlns:r="http://schemas.openxmlformats.org/officeDocument/2006/relationships" id="263" r:id="Rfcc4663ff53b4111"/>
    <p:sldId xmlns:r="http://schemas.openxmlformats.org/officeDocument/2006/relationships" id="264" r:id="R157e87ee3ff34a67"/>
    <p:sldId xmlns:r="http://schemas.openxmlformats.org/officeDocument/2006/relationships" id="265" r:id="R7886375bb4c443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99ace06504e35" /><Relationship Type="http://schemas.openxmlformats.org/officeDocument/2006/relationships/theme" Target="/ppt/theme/theme1.xml" Id="R9bc08128574a447b" /><Relationship Type="http://schemas.openxmlformats.org/officeDocument/2006/relationships/notesMaster" Target="/ppt/notesMasters/notesMaster1.xml" Id="R83958e6f92364cbc" /><Relationship Type="http://schemas.openxmlformats.org/officeDocument/2006/relationships/presProps" Target="/ppt/presProps.xml" Id="R3e4c4ff14b944f9d" /><Relationship Type="http://schemas.openxmlformats.org/officeDocument/2006/relationships/viewProps" Target="/ppt/viewProps.xml" Id="R0c462147b5144f2f" /><Relationship Type="http://schemas.openxmlformats.org/officeDocument/2006/relationships/tableStyles" Target="/ppt/tableStyles.xml" Id="R0e737860e27b4e31" /><Relationship Type="http://schemas.openxmlformats.org/officeDocument/2006/relationships/slide" Target="/ppt/slides/slide1.xml" Id="Re85942ac1fea4c81" /><Relationship Type="http://schemas.openxmlformats.org/officeDocument/2006/relationships/slide" Target="/ppt/slides/slide2.xml" Id="R7ad698423490418c" /><Relationship Type="http://schemas.openxmlformats.org/officeDocument/2006/relationships/slide" Target="/ppt/slides/slide3.xml" Id="R1a12b091d74e4959" /><Relationship Type="http://schemas.openxmlformats.org/officeDocument/2006/relationships/slide" Target="/ppt/slides/slide4.xml" Id="R9a09d846c31e4e32" /><Relationship Type="http://schemas.openxmlformats.org/officeDocument/2006/relationships/slide" Target="/ppt/slides/slide5.xml" Id="R72b929a8d7af4533" /><Relationship Type="http://schemas.openxmlformats.org/officeDocument/2006/relationships/slide" Target="/ppt/slides/slide6.xml" Id="R3c11ed85880a4a22" /><Relationship Type="http://schemas.openxmlformats.org/officeDocument/2006/relationships/slide" Target="/ppt/slides/slide7.xml" Id="Rfa8f8dd58cdf4f6e" /><Relationship Type="http://schemas.openxmlformats.org/officeDocument/2006/relationships/slide" Target="/ppt/slides/slide8.xml" Id="Rfcc4663ff53b4111" /><Relationship Type="http://schemas.openxmlformats.org/officeDocument/2006/relationships/slide" Target="/ppt/slides/slide9.xml" Id="R157e87ee3ff34a67" /><Relationship Type="http://schemas.openxmlformats.org/officeDocument/2006/relationships/slide" Target="/ppt/slides/slide10.xml" Id="R7886375bb4c443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4140acdc56b4c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676395e3c24030" /><Relationship Type="http://schemas.openxmlformats.org/officeDocument/2006/relationships/notesMaster" Target="/ppt/notesMasters/notesMaster1.xml" Id="Ree77b35ebc5c44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35a1ffcd554a6f" /><Relationship Type="http://schemas.openxmlformats.org/officeDocument/2006/relationships/notesMaster" Target="/ppt/notesMasters/notesMaster1.xml" Id="Re7f50ed2c6a34b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5fc684cfa64962" /><Relationship Type="http://schemas.openxmlformats.org/officeDocument/2006/relationships/notesMaster" Target="/ppt/notesMasters/notesMaster1.xml" Id="Rc07febda095e4f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a7ac4ad86048d6" /><Relationship Type="http://schemas.openxmlformats.org/officeDocument/2006/relationships/notesMaster" Target="/ppt/notesMasters/notesMaster1.xml" Id="R90e742424e9742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ee1b5293184ec2" /><Relationship Type="http://schemas.openxmlformats.org/officeDocument/2006/relationships/notesMaster" Target="/ppt/notesMasters/notesMaster1.xml" Id="R489380577d0544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70593228de44a9" /><Relationship Type="http://schemas.openxmlformats.org/officeDocument/2006/relationships/notesMaster" Target="/ppt/notesMasters/notesMaster1.xml" Id="R60eb4e3cc46f45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310062d70448ac" /><Relationship Type="http://schemas.openxmlformats.org/officeDocument/2006/relationships/notesMaster" Target="/ppt/notesMasters/notesMaster1.xml" Id="R597229914ffd4f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2b90b846954d84" /><Relationship Type="http://schemas.openxmlformats.org/officeDocument/2006/relationships/notesMaster" Target="/ppt/notesMasters/notesMaster1.xml" Id="R44873631a63f41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654e594da14737" /><Relationship Type="http://schemas.openxmlformats.org/officeDocument/2006/relationships/notesMaster" Target="/ppt/notesMasters/notesMaster1.xml" Id="Rde8cb53233db4a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6c9399ca2c4b96" /><Relationship Type="http://schemas.openxmlformats.org/officeDocument/2006/relationships/notesMaster" Target="/ppt/notesMasters/notesMaster1.xml" Id="R4d849ad7835f43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e89ee921d4ad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7422059505846dc" /><Relationship Type="http://schemas.openxmlformats.org/officeDocument/2006/relationships/slideLayout" Target="/ppt/slideLayouts/slideLayout2.xml" Id="R5c1c2e1202ed47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1c2e1202ed47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6d4ff3f62a4280" /><Relationship Type="http://schemas.openxmlformats.org/officeDocument/2006/relationships/image" Target="/ppt/media/image.png" Id="R53d6e359e9b14312" /><Relationship Type="http://schemas.openxmlformats.org/officeDocument/2006/relationships/notesSlide" Target="/ppt/notesSlides/notesSlide1.xml" Id="R34b65962b7fd4c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27d18bbc8745d9" /><Relationship Type="http://schemas.openxmlformats.org/officeDocument/2006/relationships/notesSlide" Target="/ppt/notesSlides/notesSlide2.xml" Id="R8ba47040802041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b3550a6f2f4c67" /><Relationship Type="http://schemas.openxmlformats.org/officeDocument/2006/relationships/notesSlide" Target="/ppt/notesSlides/notesSlide3.xml" Id="Rc7e08d2637dd49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8ff5da554c4c53" /><Relationship Type="http://schemas.openxmlformats.org/officeDocument/2006/relationships/notesSlide" Target="/ppt/notesSlides/notesSlide4.xml" Id="R9b00eebbb3894d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d28fe4a2d84c60" /><Relationship Type="http://schemas.openxmlformats.org/officeDocument/2006/relationships/notesSlide" Target="/ppt/notesSlides/notesSlide5.xml" Id="Rc9c2c2d9528748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6937086dd743c9" /><Relationship Type="http://schemas.openxmlformats.org/officeDocument/2006/relationships/notesSlide" Target="/ppt/notesSlides/notesSlide6.xml" Id="R0e2b9a87d66045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0a05b920344758" /><Relationship Type="http://schemas.openxmlformats.org/officeDocument/2006/relationships/notesSlide" Target="/ppt/notesSlides/notesSlide7.xml" Id="R0452a638861544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f915ab30a4428a" /><Relationship Type="http://schemas.openxmlformats.org/officeDocument/2006/relationships/notesSlide" Target="/ppt/notesSlides/notesSlide8.xml" Id="Raf5ea36032c245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80b9c3fff24bf7" /><Relationship Type="http://schemas.openxmlformats.org/officeDocument/2006/relationships/notesSlide" Target="/ppt/notesSlides/notesSlide9.xml" Id="R84ffd59c25e74a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7f96856d8e43f4" /><Relationship Type="http://schemas.openxmlformats.org/officeDocument/2006/relationships/image" Target="/ppt/media/image2.png" Id="Raef0bbeeb8e6424d" /><Relationship Type="http://schemas.openxmlformats.org/officeDocument/2006/relationships/image" Target="/ppt/media/image3.png" Id="Rae3414bc2b274eea" /><Relationship Type="http://schemas.openxmlformats.org/officeDocument/2006/relationships/notesSlide" Target="/ppt/notesSlides/notesSlide10.xml" Id="R4e8a6408ff4246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2DE6F8-8443-49B1-A8AE-72622760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7B80D-4E87-40BA-B500-494560BA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F46FE-966B-427B-81BB-D3FE2FC6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E0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E0C7"/>
                </a:solidFill>
                <a:latin typeface="Aptos"/>
                <a:ea typeface="Aptos"/>
                <a:cs typeface="Aptos"/>
              </a:rPr>
              <a:t>OPENAI BUILD WEEK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EFE66-FCDD-40AC-8A0C-A59BD90E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Robo-T-Rader convierte trading autonomo en una plataforma operable.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DEF34-D067-48C5-9B64-5120358E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81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7E2D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7E2DD"/>
                </a:solidFill>
                <a:latin typeface="Aptos"/>
                <a:ea typeface="Aptos"/>
                <a:cs typeface="Aptos"/>
              </a:rPr>
              <a:t>No es un bot aislado. Es un ecosistema para descubrir, incubar, gobernar y operar sistemas autonomos con disciplina.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8EA10-CBBB-4BAD-B146-948B409E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36B90-E2BE-4DB2-9DC1-01A6523A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95753-415E-4F7A-AFA5-8F609AE3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C5169-0669-47E3-8834-6B9850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entornos live/lab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9FE60-EEDF-406F-B447-C90ACCE1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812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87FDE-9D23-4432-A4EF-5F97FA81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812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87280-C445-4898-8AFF-17E632AA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146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65D24-0185-4019-940C-EA2BABF6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4797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modulos nombrados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2E6BA-F420-4157-9BAF-13F591A9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812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1215F-9BD0-448F-B4BE-4C69E9E1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812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A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521C8-3570-4A56-8228-8F3A2DC6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146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EAC34-7774-4BDD-876B-54352041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4797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modulos de discovery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E2E06-14A1-43B0-A9DB-A31890E1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630F3-5AC5-4367-A204-15E86A57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812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58AE1-F096-4CFB-9F8F-E533ACE1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1460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0FA11-F451-4316-AFFA-B8F950B5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47975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plano de datos comun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D21117-F6F5-49B0-8CF1-407CFE4A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E0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E0C7"/>
                </a:solidFill>
                <a:latin typeface="Aptos"/>
                <a:ea typeface="Aptos"/>
                <a:cs typeface="Aptos"/>
              </a:rPr>
              <a:t>MAPA DEL ECOSISTEMA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DE4403-4721-49F3-8AC6-53F15099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8"/>
          </a:solidFill>
          <a:ln xmlns:a="http://schemas.openxmlformats.org/drawingml/2006/main" w="11430">
            <a:solidFill>
              <a:srgbClr val="0F8A6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923455-1E5C-4FF7-9E99-85A4D231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431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8A6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8A6A"/>
                </a:solidFill>
                <a:latin typeface="Aptos Display"/>
                <a:ea typeface="Aptos Display"/>
                <a:cs typeface="Aptos Display"/>
              </a:rPr>
              <a:t>Execution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88F9A-27CB-4F72-89C6-388C3906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717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Dev, Prod-Hetzner, Naked, F2, Horizon, CC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BFD9F-1BD6-4189-9C45-F32CF9FD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8"/>
          </a:solidFill>
          <a:ln xmlns:a="http://schemas.openxmlformats.org/drawingml/2006/main" w="11430">
            <a:solidFill>
              <a:srgbClr val="2E5EA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D364B9-3B6E-494B-98CA-311A7051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431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5EA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E5EA7"/>
                </a:solidFill>
                <a:latin typeface="Aptos Display"/>
                <a:ea typeface="Aptos Display"/>
                <a:cs typeface="Aptos Display"/>
              </a:rPr>
              <a:t>Shared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3E4265-E767-4F8C-A2CB-00542D9D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717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MarketData Hub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64DE4D-33E5-4218-B4BF-18DC4F67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8"/>
          </a:solidFill>
          <a:ln xmlns:a="http://schemas.openxmlformats.org/drawingml/2006/main" w="11430">
            <a:solidFill>
              <a:srgbClr val="C98A2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CAB4B0-6D43-46CB-848E-082D438F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480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98A21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98A21"/>
                </a:solidFill>
                <a:latin typeface="Aptos Display"/>
                <a:ea typeface="Aptos Display"/>
                <a:cs typeface="Aptos Display"/>
              </a:rPr>
              <a:t>Learning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0A184-3F45-407C-92A7-606F1154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766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Sim, VFL, Opportunity Coach, Gem Mining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BE89C0-DF3A-4BF9-BA9D-4356879E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146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8"/>
          </a:solidFill>
          <a:ln xmlns:a="http://schemas.openxmlformats.org/drawingml/2006/main" w="11430">
            <a:solidFill>
              <a:srgbClr val="6559B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2BC42C-B263-4DFC-AEB6-E3E6AF46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480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559B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559B7"/>
                </a:solidFill>
                <a:latin typeface="Aptos Display"/>
                <a:ea typeface="Aptos Display"/>
                <a:cs typeface="Aptos Display"/>
              </a:rPr>
              <a:t>Discovery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0D89D8-F9F4-4857-AF1A-3EC2B279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766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Edge Discovery Engine, Incubator, Atlas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EFAC4C-318E-4BFD-AB03-FFF361AB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8"/>
          </a:solidFill>
          <a:ln xmlns:a="http://schemas.openxmlformats.org/drawingml/2006/main" w="11430">
            <a:solidFill>
              <a:srgbClr val="C858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A9A30D-9C8C-4AF9-A570-C0B98CED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52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584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85847"/>
                </a:solidFill>
                <a:latin typeface="Aptos Display"/>
                <a:ea typeface="Aptos Display"/>
                <a:cs typeface="Aptos Display"/>
              </a:rPr>
              <a:t>Governance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9B4215-EE80-4CE5-B59C-F3381B4F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815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Graphify, Guardian, dashboards, postmortems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53A7E9-846C-469C-9263-E486B8A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5924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7E2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2DD"/>
                </a:solidFill>
                <a:latin typeface="Aptos"/>
                <a:ea typeface="Aptos"/>
                <a:cs typeface="Aptos"/>
              </a:rPr>
              <a:t>La contribucion para el concurso vive en la capa de plataforma: contratos de datos, discovery gobernado, incubacion de edge y una forma mas clara de operar sistemas autonomos.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BF03B5-9E3A-4478-B0B3-9D35E731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Robo-T-Rader Build Week  |  01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6e359e9b14312"/>
          <a:stretch xmlns:a="http://schemas.openxmlformats.org/drawingml/2006/main"/>
        </p:blipFill>
        <p:spPr>
          <a:xfrm xmlns:a="http://schemas.openxmlformats.org/drawingml/2006/main">
            <a:off x="9399495" y="266700"/>
            <a:ext cx="167976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290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8078BA-F9CC-45B6-8EDC-37917B4C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9B0E4-B6DE-4A0C-ACF5-7315B9E9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CA9D0-A56C-4712-BC67-30C7E733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792C9-9F8F-4946-97F4-ED397820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Los bots fallan cuando investigacion, operacion y gobierno viven en la misma pieza.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E1E34-A0AD-4231-ADF9-906CB5F6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2385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8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5AF5B-0DE9-42FE-A838-94345359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71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63073-4309-43CF-89BE-BDB770BE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Caja negra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E39D3-3C2A-44AC-96F8-E65D14BC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9146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La misma logica toma decisiones, ejecuta, interpreta resultados y se vuelve casi imposible saber que funciono, que fallo y por 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0566E-3C95-47AB-B30D-84E88F49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2385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8F8AF-996C-4AFD-9126-765CF02E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571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A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6204C-88E7-4F4C-861A-96D59990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Aprendizaje lento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31511-C61B-4549-9DDE-AFBF6BA4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9800"/>
            <a:ext cx="29146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Sin replay, paridad y forensics, cada error cuesta una sesion completa. Los equipos terminan tocando reglas a ciegas.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A94A1-6D25-411E-A971-380C675F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32385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B1A82-3753-46A7-9816-26C2E814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571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B63A1-B244-4467-A750-DC810EE5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05000"/>
            <a:ext cx="293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Gobierno debil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E4302-B568-4EA1-8F76-43B5FF5A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29146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Sin contratos, incubacion y surfaces de decision, toda mejora compite contra intuicion, urgencia y memoria incompleta.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07748-109B-4E77-AD6C-DE0EE9CF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1009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0A683-98E8-4D35-9491-7364BB7B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942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La tesis de Robo-T-Rader es simple: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08ABC-AA90-4980-B908-0B1030ED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91150"/>
            <a:ext cx="942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separar capas para que el equipo pueda mejorar robots autonomos sin adivinar.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1935A-0826-49A4-B441-71E48133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Robo-T-Rader Build Week  |  02</a:t>
            </a:r>
          </a:p>
        </p:txBody>
      </p:sp>
    </p:spTree>
    <p:extLst>
      <p:ext uri="{BB962C8B-B14F-4D97-AF65-F5344CB8AC3E}">
        <p14:creationId xmlns:p14="http://schemas.microsoft.com/office/powerpoint/2010/main" val="8680729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6E9F6E-F9CF-48C7-9E3A-AEF66E6C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01C3F-B80E-4184-98BB-D80EB457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C190F-47DB-4B17-BF37-6C87C533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8CB0D-9FAE-409B-8CF0-EFBDCD9D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Robo-T-Rader separa el stack en cinco capas que pueden evolucionar sin mezclarse.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F9143-5F80-4F8F-B721-5F192975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0">
            <a:solidFill>
              <a:srgbClr val="EAF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F6C16-B9DD-47BD-ADC6-67862439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01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D5FE5-3CC7-469C-8446-274931B6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009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8A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42D0F-B950-4AB4-8193-6749F463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986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8A6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8A6A"/>
                </a:solidFill>
                <a:latin typeface="Aptos Display"/>
                <a:ea typeface="Aptos Display"/>
                <a:cs typeface="Aptos Display"/>
              </a:rPr>
              <a:t>Execution environments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903F9-1A7F-4E69-8DCA-FDE4BD6C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986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Dev, Dev-Hetzner, Prod-Hetzner, Naked, F2, Horizon, HorizonMD y CC operan distintos estilos y horizontes.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656B4-9276-40BB-9554-3AD1FD55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FA"/>
          </a:solidFill>
          <a:ln xmlns:a="http://schemas.openxmlformats.org/drawingml/2006/main" w="0">
            <a:solidFill>
              <a:srgbClr val="ECF1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216978-2DFB-47A8-8C32-5CA90EAC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2E5EA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E5EA7"/>
                </a:solidFill>
                <a:latin typeface="Aptos"/>
                <a:ea typeface="Aptos"/>
                <a:cs typeface="Aptos"/>
              </a:rPr>
              <a:t>02 SHARED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DD164-A982-43AD-8D81-885006AF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09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5EA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258C5-7FE4-43FC-BD48-28EE632B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986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5EA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E5EA7"/>
                </a:solidFill>
                <a:latin typeface="Aptos Display"/>
                <a:ea typeface="Aptos Display"/>
                <a:cs typeface="Aptos Display"/>
              </a:rPr>
              <a:t>MarketData 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321F8-BD3C-4F0C-9E6C-E5759B85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986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Normaliza quotes, candles, readiness, mappings y productos de watchlist/universe para multiples consumidores.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7FD1D-3F62-4B5D-B4BE-0165FA00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solidFill>
              <a:srgbClr val="FBF3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97A05-61E5-448C-B088-3A7BCADD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98A2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98A21"/>
                </a:solidFill>
                <a:latin typeface="Aptos"/>
                <a:ea typeface="Aptos"/>
                <a:cs typeface="Aptos"/>
              </a:rPr>
              <a:t>03 LEARNING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12512-DCF1-4419-80B0-0D0218BD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009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8A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DCF4D-20A9-4C5E-AA09-6C03D452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986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98A21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98A21"/>
                </a:solidFill>
                <a:latin typeface="Aptos Display"/>
                <a:ea typeface="Aptos Display"/>
                <a:cs typeface="Aptos Display"/>
              </a:rPr>
              <a:t>Learning and replay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E2868-3243-4860-AE35-E655A879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986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Sim, MarketSim, Forensics, VFL, Opportunity Coach y Gem Mining convierten sesiones reales en aprendizaje usable.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DA231-17BC-4D0A-975B-47B9DC26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B"/>
          </a:solidFill>
          <a:ln xmlns:a="http://schemas.openxmlformats.org/drawingml/2006/main" w="0">
            <a:solidFill>
              <a:srgbClr val="F0EE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CF30B-9152-4A06-824B-0CD3EDBA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6559B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559B7"/>
                </a:solidFill>
                <a:latin typeface="Aptos"/>
                <a:ea typeface="Aptos"/>
                <a:cs typeface="Aptos"/>
              </a:rPr>
              <a:t>04 DISCOVERY  +  05 GOVERNANCE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1B6DB0-1B2C-4AFB-9BA1-992C071E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559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7B24D-CFE2-486D-8067-32F26B59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472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559B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559B7"/>
                </a:solidFill>
                <a:latin typeface="Aptos Display"/>
                <a:ea typeface="Aptos Display"/>
                <a:cs typeface="Aptos Display"/>
              </a:rPr>
              <a:t>Discovery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69F786-FECE-43C8-B1F7-CEEE80E0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53100"/>
            <a:ext cx="472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Edge Discovery Engine, Incubator y EPIC Atlas buscan edge futuro y lo frenan antes de promoverlo sin evidencia.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051A21-E199-4CF9-A2FC-F5B13FF3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911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58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690C64-B90D-4838-9679-362B16EF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24500"/>
            <a:ext cx="472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584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85847"/>
                </a:solidFill>
                <a:latin typeface="Aptos Display"/>
                <a:ea typeface="Aptos Display"/>
                <a:cs typeface="Aptos Display"/>
              </a:rPr>
              <a:t>Governance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420BAE-7F71-45DA-966C-96232503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53100"/>
            <a:ext cx="472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Graphify, Guardian, dashboards y postmortems hacen visible lo que vale la pena podar, mantener u observar.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B781D3-80E7-46AF-A8EB-9CD1EC2E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719763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E3691E-D15B-42C2-8C1C-52BE88B2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676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0D6149-0A7F-489E-95D7-928A2124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Robo-T-Rader Build Week  |  03</a:t>
            </a:r>
          </a:p>
        </p:txBody>
      </p:sp>
    </p:spTree>
    <p:extLst>
      <p:ext uri="{BB962C8B-B14F-4D97-AF65-F5344CB8AC3E}">
        <p14:creationId xmlns:p14="http://schemas.microsoft.com/office/powerpoint/2010/main" val="21291518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CD81F9-3FFB-4B8C-BB01-7985888E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18E17-5817-4ED8-AC5D-DB7F316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83BAC-800E-4FF3-88CC-15BED058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2870C-41B7-4746-90CB-057AC7B5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El valor no esta en un modulo: esta en la coordinacion entre 22 piezas con roles claros.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BA41E-841D-4A2D-A49A-C71C4026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4780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0">
            <a:solidFill>
              <a:srgbClr val="EAF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20CC0-2A04-4A43-8482-6AF2797B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MODULE INVENTORY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CDF80-6D25-463E-AE72-28CE360A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2C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DC976-50A9-4907-B4CA-505A81DA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Modulo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4D3CA-8C38-45EC-9472-71974FC4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7716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2C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0B8A0-CBB3-49EE-9C96-EC1C7FE9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47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AFEDC-AB23-4CCB-8C4F-24A580CD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71650"/>
            <a:ext cx="3000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2C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FB37A-4356-4CAA-814C-0E54F1F9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847850"/>
            <a:ext cx="2809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3EF0A-921E-443B-83B5-7B09F5F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716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2C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A4283-31E0-4C11-85D4-746E63A4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4785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 que importa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D67F1-DCDE-47DA-85F7-80F498E3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C1EDA-D1BA-4590-A699-1215848B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Dev / Dev-Hetzner / Prod-Hetzner / Naked / F2 / Horizon / HorizonMD / CC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4A886-6F88-4CC9-87E5-F0CCD8B6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717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F566B-41F4-4462-950A-9DF9F1A5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2479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EA3A4-98A0-4E49-99E8-A7E07AF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717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5A87AD-2223-4600-9EF3-376A289E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4790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robots y runtimes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C4899-AE6D-4A3D-AC8F-E97294A9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3D4B54-2802-42EB-9285-00A923CD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4790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 superficies de operacion con estilos y grados de madurez distintos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A91D1-1793-4112-8441-6BE44E5E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30F5FF-DB06-4853-B5AD-0F44256B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MarketData Hub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9C9D9-CD4A-4AE4-9CEE-8867F0BB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622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7E6C4-96FC-4FAA-B2F1-8E482E8B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8384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shared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785C2-6DF5-423E-BE54-13194289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6225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0971CA-3604-499B-82C0-AF005B82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3845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quotes, candles, readiness, mappings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54B64F-FD39-4F51-A781-209CDB86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CCE73D-9370-498E-9CCC-FDC1B89E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384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convierte ingest en contrato reusable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4BFD48-D853-40C1-8DA4-2CA9D522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794E09-6F67-4DE8-8B15-DBE810B1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Sim / MarketSim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0DBFAA-718C-4FF8-87C8-5AAE9C0F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528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847F0-F730-495E-83B6-9AD5FBFB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29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learning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435DD6-7532-44A9-87C7-F431093F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528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A490C6-1BC7-4C72-B894-A442DCB4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42900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replay y validacion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BBC38C-C46B-4DD9-8270-20EC3214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6E1485-9F22-45A1-9724-1F2461E3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permiten probar sin tocar live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61CE53-900D-4572-A8DC-52004641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54E0A8-3188-4789-9AE0-E8F11BBD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VFL / Opportunity Coach / Forensics / Gem Mining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D7BC77-A627-45E5-9F83-853C8D45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433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5776E3-012C-48B4-9627-6F7C4FF3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195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learning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A794AD-BCC4-48AA-8C6B-708E08FF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0BB0A0-C317-47D3-BB33-1FEB41EC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1955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explicar y sintetizar comportamiento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79E921-81D5-472F-94F5-8E3BF42E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0842B7-33C5-419A-8411-54EBD9C9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195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transforman dolor operativo en evidencia estructurada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92A68B-EB3C-4B42-8733-22B89F5B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869217-D4BD-4272-A4FC-5FA8FCB4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Edge Discovery Engine / Incubator / EPIC Atlas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4D4B3A-6A3A-4E9B-9B42-E8394A6C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5339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971C01-8874-4D7C-8854-6395DA96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101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02863F-8B2E-410A-A3D6-51214697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53390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9E1FC4-56A0-4E7A-B94A-B7590192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1010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buscar edge y madurarlo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6700F5-734E-45CB-9F19-6FEBBB74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86864D-9BBC-49AF-9F1F-157FE95C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evitan saltar de backtest a live sin gobierno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438250-9AEE-4DE3-B97A-000638F7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9813DC-4B12-4EB6-9799-95CDABEB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Graphify / Guardian / Dashboards / Postmortems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464839-D3D8-4AD5-AA00-39142C55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244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25508C0-71B6-4FBC-AF24-3DAA6497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0065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9DC550-BA6F-4EE8-A789-B7468924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24450"/>
            <a:ext cx="3000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4E34BCE-DB6A-4E1C-94D8-6608A70D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200650"/>
            <a:ext cx="2809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decision surfaces y disciplina operativa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1FE2B4D-C55B-4013-A662-7679C917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244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072045A-7301-40A9-B4F3-0480A12F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006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permiten decidir que podar, mantener y observar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1554398-7DDB-4B69-B957-A84CE903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1047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Resumen: 8 entornos de ejecucion, 1 plano de datos, 6 modulos de aprendizaje, 3 de discovery y 4 de gobierno.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644FF83-78F3-4093-9B84-DE7E80B6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Robo-T-Rader Build Week  |  04</a:t>
            </a:r>
          </a:p>
        </p:txBody>
      </p:sp>
    </p:spTree>
    <p:extLst>
      <p:ext uri="{BB962C8B-B14F-4D97-AF65-F5344CB8AC3E}">
        <p14:creationId xmlns:p14="http://schemas.microsoft.com/office/powerpoint/2010/main" val="1176400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11FA9F-0944-4377-96E1-66A22E92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54DA1-11F1-49B5-A305-589138F1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66BB0-AF36-4EBD-9ED6-46D36872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SHARED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EDFAE-E36E-45F4-8D33-B3864E39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MarketData Hub convierte datos de mercado en una interfaz comun para varios consumidores.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67AFC-55E3-43A7-B394-F913A468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11430">
            <a:solidFill>
              <a:srgbClr val="0F8A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4AAE3-42C2-4FAE-90F3-7A99C310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8A6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8A6A"/>
                </a:solidFill>
                <a:latin typeface="Aptos Display"/>
                <a:ea typeface="Aptos Display"/>
                <a:cs typeface="Aptos Display"/>
              </a:rPr>
              <a:t>Capital.com / Yahoo / mappings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64FB9-3398-412A-B5BA-AA4FE67D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Fuentes y productos internos de datos, status y cobertura.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D015B-3B14-452E-AE46-141E8976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24050"/>
            <a:ext cx="43624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FA"/>
          </a:solidFill>
          <a:ln xmlns:a="http://schemas.openxmlformats.org/drawingml/2006/main" w="11430">
            <a:solidFill>
              <a:srgbClr val="2E5E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DDA5B-9314-4D73-BCD2-F58D621A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57400"/>
            <a:ext cx="413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5EA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E5EA7"/>
                </a:solidFill>
                <a:latin typeface="Aptos Display"/>
                <a:ea typeface="Aptos Display"/>
                <a:cs typeface="Aptos Display"/>
              </a:rPr>
              <a:t>MarketData Hub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82910-A1FC-4FAB-AE65-BDD6D21A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86000"/>
            <a:ext cx="4133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Entrega quotes, candles, readiness, mappings, watchlist y universe products bajo un contrato semantico comun.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D2473-22D9-45D2-A060-F3356420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20015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B"/>
          </a:solidFill>
          <a:ln xmlns:a="http://schemas.openxmlformats.org/drawingml/2006/main" w="11430">
            <a:solidFill>
              <a:srgbClr val="6559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5CC8E-25A6-4F7E-8B6B-9B8D13B1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3350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559B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559B7"/>
                </a:solidFill>
                <a:latin typeface="Aptos Display"/>
                <a:ea typeface="Aptos Display"/>
                <a:cs typeface="Aptos Display"/>
              </a:rPr>
              <a:t>Prod-Hetzner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B12B3-640B-48BA-9CB6-B87C66D6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621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runtime multi-engine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B3840-9D2C-4A9E-9FF8-98AC4372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336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11430">
            <a:solidFill>
              <a:srgbClr val="C98A2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15B49-5EF4-49DA-A5B3-19CDC210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98A21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98A21"/>
                </a:solidFill>
                <a:latin typeface="Aptos Display"/>
                <a:ea typeface="Aptos Display"/>
                <a:cs typeface="Aptos Display"/>
              </a:rPr>
              <a:t>Horizon / HorizonMD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0B42D-BD7F-4458-8140-C516C8E2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consumidores de hub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330A2-F47A-40C9-9C9D-199D148C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8"/>
          </a:solidFill>
          <a:ln xmlns:a="http://schemas.openxmlformats.org/drawingml/2006/main" w="11430">
            <a:solidFill>
              <a:srgbClr val="C858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6C2958-DAE2-4986-BA4E-E6E4861D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0040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584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85847"/>
                </a:solidFill>
                <a:latin typeface="Aptos Display"/>
                <a:ea typeface="Aptos Display"/>
                <a:cs typeface="Aptos Display"/>
              </a:rPr>
              <a:t>Edge Discovery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F7B7E-FA7B-4A1F-B076-F2E36D15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290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backtests e incubacion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6AB6E-0FD6-4F7A-B650-767AFC53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00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11430">
            <a:solidFill>
              <a:srgbClr val="0F8A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1D26E8-2C9A-4BD9-9CB7-91A7F0A5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3385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8A6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8A6A"/>
                </a:solidFill>
                <a:latin typeface="Aptos Display"/>
                <a:ea typeface="Aptos Display"/>
                <a:cs typeface="Aptos Display"/>
              </a:rPr>
              <a:t>EPIC Atlas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F5D0C-544A-4E0D-90B6-08C790B9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624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rastreador de candidatos NYSE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FBEB3B-D10B-4029-8FF5-8F8BA3D9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81263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2954A-881B-44A2-9D79-65FEDC96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38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A5D20D-850B-484A-8862-29BB0B5B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47813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A403C9-75B2-404D-AEF1-F39336CE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04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074608-26A6-4A6A-920B-85C4CAF6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81263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B5E5F1-6D0D-45DB-9EB0-DC3BBEC6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38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4C058A-468A-4C23-8A0F-AD2D86AE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14713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5B71CD-7521-44CA-B7CD-CDEED7DC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71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BD2C4E-F01B-4FB2-94E3-BEA84C24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48163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23C8A7-D593-4DC9-B536-EE95093B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05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FD2619-A971-43FC-882D-324E301B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847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101F93-DC35-4181-8C95-26B899F5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0878CF-026F-400B-B78A-E79C5157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911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DBC5F8-22E2-44AD-A018-5B28725A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244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contrato de datos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6A875F-CB7E-4F59-B08A-390B0757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57750"/>
            <a:ext cx="1847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D8B9A0-D758-45D1-AD6E-ED9387BC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57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197064-5A85-4DCC-9A03-3037283D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911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4+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E3A066-AC78-413E-8C4E-C3813C20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244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consumidores activos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B9EBBA-0057-49BF-B003-29FB9572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57750"/>
            <a:ext cx="1847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04921C-8184-449E-A848-9C35C719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57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A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8C4217-802C-4AB9-9841-E97F3C9A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911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27F6C0-17DB-4371-8F5D-4B049AF8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244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credenciales directas en Atlas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0959CB-5858-485C-94FD-55D22C21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57750"/>
            <a:ext cx="1847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943A25-3CA0-4584-97C0-D953480A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57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32231F-9BCB-460E-A91E-7D0AD58A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911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6AE1E0-A0CE-4016-9345-BA981D49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244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robots futuros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6A9F57-5935-45DD-A332-428F52B0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19700"/>
            <a:ext cx="2247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 ventaja no es solo reusar datos. Es compartir semantica, calidad y cobertura.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DE5E2C-9463-49DC-9875-87B9F489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Robo-T-Rader Build Week  |  05</a:t>
            </a:r>
          </a:p>
        </p:txBody>
      </p:sp>
    </p:spTree>
    <p:extLst>
      <p:ext uri="{BB962C8B-B14F-4D97-AF65-F5344CB8AC3E}">
        <p14:creationId xmlns:p14="http://schemas.microsoft.com/office/powerpoint/2010/main" val="8994715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0687CB-E062-487A-84A1-6FD9730D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0EC9F-6E57-419A-9BFC-95184ED6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9752C-8046-4C50-8C8E-B9BE843E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LEARNING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20D2C-0D02-45DB-B9E8-B6B91FBB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Los errores no terminan en PnL: se transforman en replay, explicacion y mejora candidateada.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26B98-AA7A-4AAE-BFFC-02974E6D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11430">
            <a:solidFill>
              <a:srgbClr val="0F8A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DFDD9-CE8D-4A51-B07D-7D7CB329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8A6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8A6A"/>
                </a:solidFill>
                <a:latin typeface="Aptos Display"/>
                <a:ea typeface="Aptos Display"/>
                <a:cs typeface="Aptos Display"/>
              </a:rPr>
              <a:t>1. Live trade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D2271-A111-46F9-A717-56FDD456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1447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Una sesion real deja trades, contexto, tiempos y comportamiento.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CCF08-86E1-4B55-9C93-C467DE97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7640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FA"/>
          </a:solidFill>
          <a:ln xmlns:a="http://schemas.openxmlformats.org/drawingml/2006/main" w="11430">
            <a:solidFill>
              <a:srgbClr val="2E5E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6D687-13EC-40AF-9890-CFC01B0D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5EA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E5EA7"/>
                </a:solidFill>
                <a:latin typeface="Aptos Display"/>
                <a:ea typeface="Aptos Display"/>
                <a:cs typeface="Aptos Display"/>
              </a:rPr>
              <a:t>2. Sim / MarketSim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88230-14AC-450D-9BE1-97D26599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1447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Reproduce la sesion y separa parity de experimentacion.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8A1B3-082B-4E63-BF9D-87B50120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11430">
            <a:solidFill>
              <a:srgbClr val="C98A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58E16-FAD2-462A-A2C1-A62EB531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98A21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98A21"/>
                </a:solidFill>
                <a:latin typeface="Aptos Display"/>
                <a:ea typeface="Aptos Display"/>
                <a:cs typeface="Aptos Display"/>
              </a:rPr>
              <a:t>3. VFL / Forensics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33B8D-776C-47A8-A4AE-44B462FB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09900"/>
            <a:ext cx="1447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Hace visible precio, decisiones, MFE/MAE y diagnosticos.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7FA63-C18D-40AC-B9E2-149A24B0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7640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B"/>
          </a:solidFill>
          <a:ln xmlns:a="http://schemas.openxmlformats.org/drawingml/2006/main" w="11430">
            <a:solidFill>
              <a:srgbClr val="6559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3CA78-99F8-4900-883C-08306E39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0975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559B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559B7"/>
                </a:solidFill>
                <a:latin typeface="Aptos Display"/>
                <a:ea typeface="Aptos Display"/>
                <a:cs typeface="Aptos Display"/>
              </a:rPr>
              <a:t>4. Opportunity Coach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BD3BA-2E90-4498-8820-BA80D8C4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38350"/>
            <a:ext cx="1447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Compara lo que el robot hizo contra lo que pudo haber visto.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07839-D7D0-4138-836B-7B3B10A5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8"/>
          </a:solidFill>
          <a:ln xmlns:a="http://schemas.openxmlformats.org/drawingml/2006/main" w="11430">
            <a:solidFill>
              <a:srgbClr val="C858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78D16-CFB4-4EB6-872C-201AB563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1447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584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85847"/>
                </a:solidFill>
                <a:latin typeface="Aptos Display"/>
                <a:ea typeface="Aptos Display"/>
                <a:cs typeface="Aptos Display"/>
              </a:rPr>
              <a:t>5. Gem Mining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950F5-1BAC-4903-87BB-A818776A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9900"/>
            <a:ext cx="1447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Extrae hallazgos repetidos y los convierte en candidatos.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35F77-6D52-44A5-A42F-7DF07BC0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363" y="314325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E8CFE-32CA-40D3-9197-A9F42A13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95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AAFD0-9B4E-4FA6-BBEB-944C605E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963" y="2171700"/>
            <a:ext cx="285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7C32B9-50A2-4232-B7B9-3C1D3528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01AC94-0E17-48CE-8371-B85ECA42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563" y="3143250"/>
            <a:ext cx="28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890FFD-8962-4124-9AD5-6A2AE91C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9F783A-80F3-4C55-BAC7-FDCBA4EB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171700"/>
            <a:ext cx="285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2B4D69-5BF1-493D-8D1F-6DF801BB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E3090C-5BDB-47B9-9932-13ACC4F3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95800"/>
            <a:ext cx="857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F086AF-C15A-4BEA-A188-D258A803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86300"/>
            <a:ext cx="786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La idea central del laboratorio: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DE0D74-690F-47A2-884C-B7EE329C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72050"/>
            <a:ext cx="7867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no cambiar live por intuicion, sino promover mejoras desde evidencia reproducible.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3F36E7-A2CA-43EC-AD90-A5AAA10F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Robo-T-Rader Build Week  |  06</a:t>
            </a:r>
          </a:p>
        </p:txBody>
      </p:sp>
    </p:spTree>
    <p:extLst>
      <p:ext uri="{BB962C8B-B14F-4D97-AF65-F5344CB8AC3E}">
        <p14:creationId xmlns:p14="http://schemas.microsoft.com/office/powerpoint/2010/main" val="13371468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0DB3CE-0D10-4BCD-BB3C-B74C05E1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E0C8E-A3B6-4CAC-9D51-EA308E7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52259-5AB1-4ADE-BFA8-BA28BB6A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A67FE-9DAB-4EB4-B89C-83DCF98E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Edge Discovery Engine, Incubator y EPIC Atlas forman un pipeline gobernado para edge futuro.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96A5A-7C5B-425D-8CCC-40A2551E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FCCBF-C9FE-4372-89AB-ACFD4995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8434F-ADCB-4610-A9B9-32F959AA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Historical discovery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3FD9F-1A64-4908-9F23-345793DA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676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El Edge Discovery Engine explora historia, genera hipotesis y descarta lo fragil antes de tocar un runtime.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B844A-07CD-4D43-802C-2E461991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47900"/>
            <a:ext cx="2000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478DD-B9B9-4421-8830-8B8362F8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479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D8242-F0F6-4E89-AA4A-1D7AFE86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Paper incubation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80D76-A533-40AB-A0EE-3F106CF5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05100"/>
            <a:ext cx="1676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La Incubadora mantiene candidatos vivos pero contenidos, con contrato, fecha y kill rule.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EB799-9A72-4F77-958F-9B440F53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2000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D7968-4780-4152-B9BA-165262A7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A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EA692-A13F-40B1-8ECF-7A4254A6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Atlas expansion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92481-D0D1-46E3-91BB-5FBE5EBB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05100"/>
            <a:ext cx="1676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EPIC Atlas rastrea candidatos fuera del watchlist actual y los manda a investigacion.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456DB-7EB6-4D72-96D2-A16BC039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2000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B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DFEE6-B437-4D05-ABDC-C3B622FB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757F8-78F0-45A3-983C-F1A41E19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Governed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D644C-F566-48C1-AEB0-0852612C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05100"/>
            <a:ext cx="1676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Graphify y las revisiones humanas deciden si podar, mantener, observar o promover.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797568-9477-4A0F-844F-758A897E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47900"/>
            <a:ext cx="1143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8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EB226-B00F-4219-B1FE-B7DC72F6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479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FDF6B6-0FBE-46A4-970F-E1FA2F20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400300"/>
            <a:ext cx="838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Prod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B2233-9306-4AD4-896D-CE7B5A02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705100"/>
            <a:ext cx="819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Solo llega lo suficientemente evidenciado.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EFF4D-405D-4744-9771-9C2E4EC4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33713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EA76F-CE9E-4921-BB8C-ACB78B5A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C35EAA-C8B7-4D0E-B2F5-5E52B7EF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33713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770FFB-35D8-4357-A968-4442F8F4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90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1EFF4E-D45B-47BC-80A5-477E948A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33713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13E1E-D5E1-4E29-996B-012FD2DD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90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941468-5BB9-4C6E-9367-7C81C10F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33713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D7746E-5E8C-409D-9D35-CD4A027F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90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solidFill>
              <a:srgbClr val="D8DD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6A5FB1-015D-4A94-8597-0C69057C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095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El principio fuerte del sistema es este: descubrir edge no basta; hay que darle una ruta de maduracion.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2010B5-72B4-482D-91E4-2ACC5CB3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Por eso Atlas no opera, la Incubadora no promociona sola y Prod no deberia heredar ideas sin pasar por evidencia, revision y contexto.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AE8AC1-1029-43D6-A8AC-8D3CF80E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Robo-T-Rader Build Week  |  07</a:t>
            </a:r>
          </a:p>
        </p:txBody>
      </p:sp>
    </p:spTree>
    <p:extLst>
      <p:ext uri="{BB962C8B-B14F-4D97-AF65-F5344CB8AC3E}">
        <p14:creationId xmlns:p14="http://schemas.microsoft.com/office/powerpoint/2010/main" val="11680300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2E8CD4-D04F-47AA-A784-602B0B68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44F85-7431-45F7-B463-D1797F10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F6DF6-2A1F-4D63-9BD2-C609445E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4E342-940C-4268-B768-0889ECE5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Graphify y las surfaces operativas convierten ruido en decisiones accionables.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A1995-76CA-4853-B358-2A4DF0C7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8"/>
          </a:solidFill>
          <a:ln xmlns:a="http://schemas.openxmlformats.org/drawingml/2006/main" w="0">
            <a:solidFill>
              <a:srgbClr val="F9EC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438AC-01D9-4CB0-9162-4994BD28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8584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5847"/>
                </a:solidFill>
                <a:latin typeface="Aptos"/>
                <a:ea typeface="Aptos"/>
                <a:cs typeface="Aptos"/>
              </a:rPr>
              <a:t>DECISION SURFACES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66879-EB84-4E36-B8BB-0DE88B89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CE8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7A32D-1AC3-4527-AEF5-83768B0C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8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A0813-045A-4FB5-8AB6-6DFA7EE8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Graphify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74307-1B23-48A4-821A-97273D22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057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Relaciona robots, edges, factores, blockers y acciones del dia para podar, mantener u observar.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4476E-DD33-41FB-86B8-8E7039C2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097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7EE59-B9CF-4AD3-A074-FD3FDCBB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DC3AE-6BF8-4B62-8F9F-5F3B3B5D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Guardian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03D50-613D-43CD-938C-818D5476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66950"/>
            <a:ext cx="2057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Hace checkpoints pre-NYSE, post-NYSE y nocturnos para salud, deuda y alertas.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9C5B1-3EF7-43C6-BAE5-7EC601B5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8B7F9-F94B-42F1-9534-95E0310C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A6A2B-7475-495F-8531-763297DA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Dashboards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577F8-9207-42DB-828E-C797610E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2057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Comprimen balances, hallazgos y pendientes en vistas operables por humanos.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A47E6-3EEB-4280-A79A-D3CE89C6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EFB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9A97D-98A2-466A-8A0A-E93E7D66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1AF40-8796-4F90-9F51-394AE31D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621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Postmortems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D8116-2244-47F8-934D-6B170927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66950"/>
            <a:ext cx="20574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Preservan causalidad y evitan que el equipo dependa solo de memoria o impresiones.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E68E7-438F-4735-B310-74A06354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28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8CB302-312D-498F-B09D-921E64BC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960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El resultado que importa no es mas observabilidad por si misma.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231030-E95E-4BA4-81C7-C9F96610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9650"/>
            <a:ext cx="960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Es que un equipo pueda decidir mejor que tocar, que no tocar y por que.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7815C7-6255-49C8-AF3F-0B456152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Robo-T-Rader Build Week  |  08</a:t>
            </a:r>
          </a:p>
        </p:txBody>
      </p:sp>
    </p:spTree>
    <p:extLst>
      <p:ext uri="{BB962C8B-B14F-4D97-AF65-F5344CB8AC3E}">
        <p14:creationId xmlns:p14="http://schemas.microsoft.com/office/powerpoint/2010/main" val="15054276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3DC611-0188-4ACB-A54B-4499F41C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B6D47-4F8E-4854-BCBC-41352E46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9FBF7-D6B1-442A-9D23-16CA87CE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F8A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A6A"/>
                </a:solidFill>
                <a:latin typeface="Aptos"/>
                <a:ea typeface="Aptos"/>
                <a:cs typeface="Aptos"/>
              </a:rPr>
              <a:t>BUILD WEEK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FDB34-9EE2-4F49-8B5E-BA191141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La extension del concurso esta en la plataforma, no en fingir que todo se construyo desde cero.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71589-6D23-4EB5-8719-DB3240A8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4857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1FA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1941A-A5B7-4294-AC70-12FFBB3B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95E07-CCC3-423C-ACE5-3E941C69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Lo que ya existia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14165-1856-4774-87AF-0855DB8F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5339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- multiples robots y entornos live/lab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- flujos demo de trading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- monitoreo y control por Telegram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- postmortems y practicas de replay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- infraestructura distribuida entre robo-lab y Hetzner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59868-FBCD-43AE-A4BE-6ECA8489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43100"/>
            <a:ext cx="4857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2C2AD-766F-424B-ADBD-5EB812A0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431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11846-BFA2-43B8-B2ED-C35FA294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Lo que se extendio durante Build Week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75C9E-A9D6-434D-8CCC-E74CCBDF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5339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- uso mas fuerte de MarketData Hub como contrato comun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- integracion de EPIC Atlas contra contratos del Hub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- pipeline discovery/incubator mejor formalizado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- competition repo publico y narrativa de plataforma</a:t>
            </a:r>
          </a:p>
          <a:p xmlns:a="http://schemas.openxmlformats.org/drawingml/2006/main">
            <a:pPr algn="l">
              <a:buNone/>
              <a:defRPr sz="938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- evidencia mas clara de como Codex y GPT-5.6 participaron en arquitectura, integracion y debugging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8D964-14FF-4BB1-8370-A781E77C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5BB5C-B2DD-4329-800F-00B651C9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76850"/>
            <a:ext cx="872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Honestidad de la submission: proyecto preexistente, extension nueva y documentada durante Build Week.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321BB-7EAD-46EB-9A81-7AA6A7A1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Robo-T-Rader Build Week  |  09</a:t>
            </a:r>
          </a:p>
        </p:txBody>
      </p:sp>
    </p:spTree>
    <p:extLst>
      <p:ext uri="{BB962C8B-B14F-4D97-AF65-F5344CB8AC3E}">
        <p14:creationId xmlns:p14="http://schemas.microsoft.com/office/powerpoint/2010/main" val="20345735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BFA77E-83A7-4930-A9FC-F4C18DCF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7D1F8-D108-4D29-8449-420AF027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11EF3-F880-4485-A89E-CA7C3DBD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E0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E0C7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24FF5-676B-4514-9DA2-5D62278D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forma mas clara de entender Robo-T-Rader es seguir un camino concreto por Prod-Hetzner y sus modulos satelite.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60309-DB9B-4338-A622-B3197B24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8"/>
          </a:solidFill>
          <a:ln xmlns:a="http://schemas.openxmlformats.org/drawingml/2006/main" w="11430">
            <a:solidFill>
              <a:srgbClr val="0F8A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CA78C-0DC2-4420-A607-C4932BD2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8A6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F8A6A"/>
                </a:solidFill>
                <a:latin typeface="Aptos Display"/>
                <a:ea typeface="Aptos Display"/>
                <a:cs typeface="Aptos Display"/>
              </a:rPr>
              <a:t>1. Prod-Hetzner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BC023-5A54-4D1E-807E-C5760D58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48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runtime multi-engine que hoy representa la cara operativa del sistema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75760-7643-4358-98EF-B51E96F8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8"/>
          </a:solidFill>
          <a:ln xmlns:a="http://schemas.openxmlformats.org/drawingml/2006/main" w="11430">
            <a:solidFill>
              <a:srgbClr val="2E5E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5BD00-7FC9-440F-B62A-F2BFF189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955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5EA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2E5EA7"/>
                </a:solidFill>
                <a:latin typeface="Aptos Display"/>
                <a:ea typeface="Aptos Display"/>
                <a:cs typeface="Aptos Display"/>
              </a:rPr>
              <a:t>2. Hub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9040E-7AD1-4EBE-B8A4-841A1EA3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24150"/>
            <a:ext cx="148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plano de datos compartido para quotes, candles, readiness y mappings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37079-3A82-4969-B978-780AAB83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6220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8"/>
          </a:solidFill>
          <a:ln xmlns:a="http://schemas.openxmlformats.org/drawingml/2006/main" w="11430">
            <a:solidFill>
              <a:srgbClr val="C98A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8D21C-664D-412E-9C54-49D09AFF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955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98A21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98A21"/>
                </a:solidFill>
                <a:latin typeface="Aptos Display"/>
                <a:ea typeface="Aptos Display"/>
                <a:cs typeface="Aptos Display"/>
              </a:rPr>
              <a:t>3. Sim / VFL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56419-3E56-4D4B-8ABC-628267EB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24150"/>
            <a:ext cx="148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replay y visualizacion cuando algo sale mal o merece revision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0885E-4BEB-45EF-AF30-13A99461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6220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8"/>
          </a:solidFill>
          <a:ln xmlns:a="http://schemas.openxmlformats.org/drawingml/2006/main" w="11430">
            <a:solidFill>
              <a:srgbClr val="6559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428D3-97AE-47EC-9C8F-0BA4C8B6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559B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559B7"/>
                </a:solidFill>
                <a:latin typeface="Aptos Display"/>
                <a:ea typeface="Aptos Display"/>
                <a:cs typeface="Aptos Display"/>
              </a:rPr>
              <a:t>4. Graphify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B2BB8-C40B-47C1-9D5C-D50CD1AD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1485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surface de decision que resume edges, blockers y prioridades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F9D11-98DB-46EA-B1D9-45AFA102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62200"/>
            <a:ext cx="1409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8"/>
          </a:solidFill>
          <a:ln xmlns:a="http://schemas.openxmlformats.org/drawingml/2006/main" w="11430">
            <a:solidFill>
              <a:srgbClr val="C858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11678-1498-42EF-A7DA-17BB14A6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584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C85847"/>
                </a:solidFill>
                <a:latin typeface="Aptos Display"/>
                <a:ea typeface="Aptos Display"/>
                <a:cs typeface="Aptos Display"/>
              </a:rPr>
              <a:t>5. Atlas / Discovery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F4625-7A67-482F-A3F7-BF2A5998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24150"/>
            <a:ext cx="1181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rastro de lo que viene despues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4FC9E-53FE-4DDF-BCE1-AA10E6A6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05113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A74"/>
          </a:solidFill>
          <a:ln xmlns:a="http://schemas.openxmlformats.org/drawingml/2006/main" w="0">
            <a:solidFill>
              <a:srgbClr val="6F7A7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8C5E1-E6C5-4750-8608-BC2057E4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A74"/>
          </a:solidFill>
          <a:ln xmlns:a="http://schemas.openxmlformats.org/drawingml/2006/main" w="0">
            <a:solidFill>
              <a:srgbClr val="6F7A7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98E8F-7821-47B9-9C6E-0FBDC6D8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05113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A74"/>
          </a:solidFill>
          <a:ln xmlns:a="http://schemas.openxmlformats.org/drawingml/2006/main" w="0">
            <a:solidFill>
              <a:srgbClr val="6F7A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73EB96-2917-49F2-B6CB-263013D5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A74"/>
          </a:solidFill>
          <a:ln xmlns:a="http://schemas.openxmlformats.org/drawingml/2006/main" w="0">
            <a:solidFill>
              <a:srgbClr val="6F7A7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7DD80E-C52A-4B8C-B92A-8D5AD82C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5113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A74"/>
          </a:solidFill>
          <a:ln xmlns:a="http://schemas.openxmlformats.org/drawingml/2006/main" w="0">
            <a:solidFill>
              <a:srgbClr val="6F7A7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64C350-4B75-4DDC-A54B-D949A4A0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A74"/>
          </a:solidFill>
          <a:ln xmlns:a="http://schemas.openxmlformats.org/drawingml/2006/main" w="0">
            <a:solidFill>
              <a:srgbClr val="6F7A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B22BBA-7C58-4691-AEA1-EA5C365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5113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A74"/>
          </a:solidFill>
          <a:ln xmlns:a="http://schemas.openxmlformats.org/drawingml/2006/main" w="0">
            <a:solidFill>
              <a:srgbClr val="6F7A7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A4856E-8DC5-4A49-BC8B-5BC49DC5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62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A74"/>
          </a:solidFill>
          <a:ln xmlns:a="http://schemas.openxmlformats.org/drawingml/2006/main" w="0">
            <a:solidFill>
              <a:srgbClr val="6F7A7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E0FB01-6099-4830-BDB4-3C4818E4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952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Categoria sugerida: Work &amp; Productivity.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80C200-8EE2-4ACA-8CE4-8AFD804A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000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7E2D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E2DD"/>
                </a:solidFill>
                <a:latin typeface="Aptos"/>
                <a:ea typeface="Aptos"/>
                <a:cs typeface="Aptos"/>
              </a:rPr>
              <a:t>Lo mas valioso no es una operacion aislada. Es haber convertido investigacion, datos, incubacion y gobierno en un flujo de trabajo que un equipo puede usar para mejorar sistemas autonomos reales.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E05B45-49B7-45CD-9842-4AA29F7C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DE0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E0C7"/>
                </a:solidFill>
                <a:latin typeface="Aptos"/>
                <a:ea typeface="Aptos"/>
                <a:cs typeface="Aptos"/>
              </a:rPr>
              <a:t>Public repo: github.com/lmfranchini/robo-t-rader-platform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DAC8E6-07D2-4FE9-BD83-38B4CE9C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15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5F6B6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B64"/>
                </a:solidFill>
                <a:latin typeface="Aptos"/>
                <a:ea typeface="Aptos"/>
                <a:cs typeface="Aptos"/>
              </a:rPr>
              <a:t>Robo-T-Rader Build Week  |  10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0bbeeb8e6424d"/>
          <a:stretch xmlns:a="http://schemas.openxmlformats.org/drawingml/2006/main"/>
        </p:blipFill>
        <p:spPr>
          <a:xfrm xmlns:a="http://schemas.openxmlformats.org/drawingml/2006/main">
            <a:off x="8766913" y="4476750"/>
            <a:ext cx="1801924" cy="1123950"/>
          </a:xfrm>
          <a:prstGeom xmlns:a="http://schemas.openxmlformats.org/drawingml/2006/main" prst="rect">
            <a:avLst/>
          </a:prstGeom>
        </p:spPr>
      </p:pic>
      <p:sp>
        <p:nvSpPr>
          <p:cNvPr id="33" name="logo-cleanup-mask">
            <a:extLst xmlns:a="http://schemas.openxmlformats.org/drawingml/2006/main">
              <a:ext uri="{FF2B5EF4-FFF2-40B4-BE49-F238E27FC236}">
                <a16:creationId xmlns:a16="http://schemas.microsoft.com/office/drawing/2014/main" id="{3D1748BE-201F-420E-857A-32773D81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33875"/>
            <a:ext cx="247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F"/>
          </a:solidFill>
          <a:ln xmlns:a="http://schemas.openxmlformats.org/drawingml/2006/main" w="0">
            <a:solidFill>
              <a:srgbClr val="11181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414bc2b274eea"/>
          <a:stretch xmlns:a="http://schemas.openxmlformats.org/drawingml/2006/main"/>
        </p:blipFill>
        <p:spPr>
          <a:xfrm xmlns:a="http://schemas.openxmlformats.org/drawingml/2006/main">
            <a:off x="9409326" y="5000625"/>
            <a:ext cx="1374349" cy="85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25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2026-07-18T18:20:17.2950000Z</dcterms:created>
  <dcterms:modified xsi:type="dcterms:W3CDTF">2026-07-18T18:20:17.2950000Z</dcterms:modified>
</coreProperties>
</file>