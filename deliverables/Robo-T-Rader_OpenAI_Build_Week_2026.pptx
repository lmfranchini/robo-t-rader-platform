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b6b22db3fae43c9" /><Relationship Type="http://schemas.openxmlformats.org/officeDocument/2006/relationships/extended-properties" Target="/docProps/app.xml" Id="Rc5c8902fab554816" /><Relationship Type="http://schemas.openxmlformats.org/officeDocument/2006/relationships/officeDocument" Target="/ppt/presentation.xml" Id="R61cc70911aac4fe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161ec00ecf745e6"/>
  </p:sldMasterIdLst>
  <p:notesMasterIdLst>
    <p:notesMasterId xmlns:r="http://schemas.openxmlformats.org/officeDocument/2006/relationships" r:id="R0884bc54827c46a4"/>
  </p:notesMasterIdLst>
  <p:sldIdLst>
    <p:sldId xmlns:r="http://schemas.openxmlformats.org/officeDocument/2006/relationships" id="256" r:id="Rd82c2d39c8324b56"/>
    <p:sldId xmlns:r="http://schemas.openxmlformats.org/officeDocument/2006/relationships" id="257" r:id="Rbc0404821a5742e8"/>
    <p:sldId xmlns:r="http://schemas.openxmlformats.org/officeDocument/2006/relationships" id="258" r:id="Re1b6cc59dd2d4d2c"/>
    <p:sldId xmlns:r="http://schemas.openxmlformats.org/officeDocument/2006/relationships" id="259" r:id="R3fcaa9d64789439e"/>
    <p:sldId xmlns:r="http://schemas.openxmlformats.org/officeDocument/2006/relationships" id="260" r:id="R33802646e51246a7"/>
    <p:sldId xmlns:r="http://schemas.openxmlformats.org/officeDocument/2006/relationships" id="261" r:id="R7339a26905144c93"/>
    <p:sldId xmlns:r="http://schemas.openxmlformats.org/officeDocument/2006/relationships" id="262" r:id="R8aba76aa18834888"/>
    <p:sldId xmlns:r="http://schemas.openxmlformats.org/officeDocument/2006/relationships" id="263" r:id="R1d33308b34884b30"/>
    <p:sldId xmlns:r="http://schemas.openxmlformats.org/officeDocument/2006/relationships" id="264" r:id="Rf679e84a718e43d9"/>
    <p:sldId xmlns:r="http://schemas.openxmlformats.org/officeDocument/2006/relationships" id="265" r:id="R57139668448743a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61ec00ecf745e6" /><Relationship Type="http://schemas.openxmlformats.org/officeDocument/2006/relationships/theme" Target="/ppt/theme/theme1.xml" Id="R57f230e626d94531" /><Relationship Type="http://schemas.openxmlformats.org/officeDocument/2006/relationships/notesMaster" Target="/ppt/notesMasters/notesMaster1.xml" Id="R0884bc54827c46a4" /><Relationship Type="http://schemas.openxmlformats.org/officeDocument/2006/relationships/presProps" Target="/ppt/presProps.xml" Id="R0c3876fbec684b3d" /><Relationship Type="http://schemas.openxmlformats.org/officeDocument/2006/relationships/viewProps" Target="/ppt/viewProps.xml" Id="Red3fd2e6f8eb4e84" /><Relationship Type="http://schemas.openxmlformats.org/officeDocument/2006/relationships/tableStyles" Target="/ppt/tableStyles.xml" Id="R24404059adb541b1" /><Relationship Type="http://schemas.openxmlformats.org/officeDocument/2006/relationships/slide" Target="/ppt/slides/slide1.xml" Id="Rd82c2d39c8324b56" /><Relationship Type="http://schemas.openxmlformats.org/officeDocument/2006/relationships/slide" Target="/ppt/slides/slide2.xml" Id="Rbc0404821a5742e8" /><Relationship Type="http://schemas.openxmlformats.org/officeDocument/2006/relationships/slide" Target="/ppt/slides/slide3.xml" Id="Re1b6cc59dd2d4d2c" /><Relationship Type="http://schemas.openxmlformats.org/officeDocument/2006/relationships/slide" Target="/ppt/slides/slide4.xml" Id="R3fcaa9d64789439e" /><Relationship Type="http://schemas.openxmlformats.org/officeDocument/2006/relationships/slide" Target="/ppt/slides/slide5.xml" Id="R33802646e51246a7" /><Relationship Type="http://schemas.openxmlformats.org/officeDocument/2006/relationships/slide" Target="/ppt/slides/slide6.xml" Id="R7339a26905144c93" /><Relationship Type="http://schemas.openxmlformats.org/officeDocument/2006/relationships/slide" Target="/ppt/slides/slide7.xml" Id="R8aba76aa18834888" /><Relationship Type="http://schemas.openxmlformats.org/officeDocument/2006/relationships/slide" Target="/ppt/slides/slide8.xml" Id="R1d33308b34884b30" /><Relationship Type="http://schemas.openxmlformats.org/officeDocument/2006/relationships/slide" Target="/ppt/slides/slide9.xml" Id="Rf679e84a718e43d9" /><Relationship Type="http://schemas.openxmlformats.org/officeDocument/2006/relationships/slide" Target="/ppt/slides/slide10.xml" Id="R57139668448743a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19f6e5d1adc465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08380b466934fc6" /><Relationship Type="http://schemas.openxmlformats.org/officeDocument/2006/relationships/notesMaster" Target="/ppt/notesMasters/notesMaster1.xml" Id="R5a8ec32888664a9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fba469d4a454f38" /><Relationship Type="http://schemas.openxmlformats.org/officeDocument/2006/relationships/notesMaster" Target="/ppt/notesMasters/notesMaster1.xml" Id="R42eba3259190437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6dfd2582834878" /><Relationship Type="http://schemas.openxmlformats.org/officeDocument/2006/relationships/notesMaster" Target="/ppt/notesMasters/notesMaster1.xml" Id="R7d6888cea6c34df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59a152e45d74f07" /><Relationship Type="http://schemas.openxmlformats.org/officeDocument/2006/relationships/notesMaster" Target="/ppt/notesMasters/notesMaster1.xml" Id="R4e2abf1e9726425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2e1ad4edb134ef2" /><Relationship Type="http://schemas.openxmlformats.org/officeDocument/2006/relationships/notesMaster" Target="/ppt/notesMasters/notesMaster1.xml" Id="Rdca73a45b1964e8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b295e504a5f4fff" /><Relationship Type="http://schemas.openxmlformats.org/officeDocument/2006/relationships/notesMaster" Target="/ppt/notesMasters/notesMaster1.xml" Id="R3dc11f9dce3c4ce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3c67db92d9945e5" /><Relationship Type="http://schemas.openxmlformats.org/officeDocument/2006/relationships/notesMaster" Target="/ppt/notesMasters/notesMaster1.xml" Id="Rc51df82d2089492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49a57470e144f41" /><Relationship Type="http://schemas.openxmlformats.org/officeDocument/2006/relationships/notesMaster" Target="/ppt/notesMasters/notesMaster1.xml" Id="Re81fabca9d7a472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8092c5085c648e1" /><Relationship Type="http://schemas.openxmlformats.org/officeDocument/2006/relationships/notesMaster" Target="/ppt/notesMasters/notesMaster1.xml" Id="R1838191442e14e0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8b00d025edb4dec" /><Relationship Type="http://schemas.openxmlformats.org/officeDocument/2006/relationships/notesMaster" Target="/ppt/notesMasters/notesMaster1.xml" Id="Rcf7d1e8f7f954b7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6d00230ed4497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1d3e297b8a02469a" /><Relationship Type="http://schemas.openxmlformats.org/officeDocument/2006/relationships/slideLayout" Target="/ppt/slideLayouts/slideLayout2.xml" Id="Rf26701d92dd94fd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26701d92dd94fd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ac197b53f146ab" /><Relationship Type="http://schemas.openxmlformats.org/officeDocument/2006/relationships/image" Target="/ppt/media/image.png" Id="R726feb1592c34f1d" /><Relationship Type="http://schemas.openxmlformats.org/officeDocument/2006/relationships/notesSlide" Target="/ppt/notesSlides/notesSlide1.xml" Id="R26dcd7870f9b4c1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e0b82913644cd8" /><Relationship Type="http://schemas.openxmlformats.org/officeDocument/2006/relationships/notesSlide" Target="/ppt/notesSlides/notesSlide2.xml" Id="R5e2735068a39417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be79b49f204b78" /><Relationship Type="http://schemas.openxmlformats.org/officeDocument/2006/relationships/notesSlide" Target="/ppt/notesSlides/notesSlide3.xml" Id="R7b2235297dc4456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3ae74beacf4be1" /><Relationship Type="http://schemas.openxmlformats.org/officeDocument/2006/relationships/notesSlide" Target="/ppt/notesSlides/notesSlide4.xml" Id="R8da38258966d4ef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0aeec014c94825" /><Relationship Type="http://schemas.openxmlformats.org/officeDocument/2006/relationships/notesSlide" Target="/ppt/notesSlides/notesSlide5.xml" Id="R1de82483063e4e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6863263d3d4112" /><Relationship Type="http://schemas.openxmlformats.org/officeDocument/2006/relationships/notesSlide" Target="/ppt/notesSlides/notesSlide6.xml" Id="Rdd5fc5f7d75048a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8e702f682643ec" /><Relationship Type="http://schemas.openxmlformats.org/officeDocument/2006/relationships/notesSlide" Target="/ppt/notesSlides/notesSlide7.xml" Id="Re91479ef49f241d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5940ea79fc4bc9" /><Relationship Type="http://schemas.openxmlformats.org/officeDocument/2006/relationships/notesSlide" Target="/ppt/notesSlides/notesSlide8.xml" Id="R3c7766b6d5d24f6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4a890068f444bf" /><Relationship Type="http://schemas.openxmlformats.org/officeDocument/2006/relationships/notesSlide" Target="/ppt/notesSlides/notesSlide9.xml" Id="R3ca95c9a65ff40c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d3f87ddae7414b" /><Relationship Type="http://schemas.openxmlformats.org/officeDocument/2006/relationships/image" Target="/ppt/media/image2.png" Id="R7bf8ded4f3594e8b" /><Relationship Type="http://schemas.openxmlformats.org/officeDocument/2006/relationships/notesSlide" Target="/ppt/notesSlides/notesSlide10.xml" Id="R95b790fe4ff14f6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CFBABD-394C-469F-977F-8B468DD3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F58981-4919-47CE-9027-F2568636D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E6513D-F505-44C5-AAE2-377604334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DE0C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DE0C7"/>
                </a:solidFill>
                <a:latin typeface="Aptos"/>
                <a:ea typeface="Aptos"/>
                <a:cs typeface="Aptos"/>
              </a:rPr>
              <a:t>OPENAI BUILD WEEK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0B9F25-5901-4EF9-8E58-01E55BCFA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Robo-T-Rader turns autonomous trading into an operable platform.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8C70DD-FFDB-4007-B664-99EC2D4FA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5810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7E2D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7E2DD"/>
                </a:solidFill>
                <a:latin typeface="Aptos"/>
                <a:ea typeface="Aptos"/>
                <a:cs typeface="Aptos"/>
              </a:rPr>
              <a:t>It is not a single bot. It is an ecosystem for discovering, incubating, governing, and operating autonomous systems with discipline.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90E490-3B94-4644-A773-2578F4E90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1428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AA2B5A-DFFD-46AE-BAB4-2A29B5A9B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A9845E-859C-46E7-9ED7-61DFD0ACD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C29E45-0BF1-4332-8F99-C4825FCE2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47975"/>
            <a:ext cx="1162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live/lab environments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710B63-D918-40D1-AB4B-F40468A8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381250"/>
            <a:ext cx="1428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E004BE-1B96-4F2D-96E7-7EE372986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3812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E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61CB98-72D4-4D8F-AFFA-7BCDEDB99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514600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22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A6535-182C-43E1-87A0-222723A01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847975"/>
            <a:ext cx="1162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named modules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F11C2A-401D-400F-9D64-2BE6E7CFF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381250"/>
            <a:ext cx="1428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3F83EA-1CF4-4891-ACC1-25BA1D6A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3812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625BFF-8AE1-4146-9D64-E64E4F4FA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14600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42EF46-E125-4850-AFCF-5F158238D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847975"/>
            <a:ext cx="1162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discovery modules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4B86CC-54B8-4D60-A697-0D8BEE5DE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381250"/>
            <a:ext cx="1428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09D655-F496-4C20-A1F7-DE4D37AE9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3812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59B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8D68CD-EF11-447D-BE01-82E45410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514600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9AA660-C9BF-41CD-BCF8-85588542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47975"/>
            <a:ext cx="1162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shared data plane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25FED4-3CDD-47E6-BE1A-4149DB00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35255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DE0C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DE0C7"/>
                </a:solidFill>
                <a:latin typeface="Aptos"/>
                <a:ea typeface="Aptos"/>
                <a:cs typeface="Aptos"/>
              </a:rPr>
              <a:t>ECOSYSTEM MAP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67F394-95CE-4520-B25B-D1E7FBC3A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09750"/>
            <a:ext cx="1809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0F8A6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6A0097-9E18-4186-A4B3-48F24F92D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943100"/>
            <a:ext cx="1581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rPr>
              <a:t>Execution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5DC72C-AF8E-4E05-AC3F-3B46E7C3E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171700"/>
            <a:ext cx="1581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Dev, Prod-Hetzner, Naked, F2, Horizon, CC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9BC920-80DB-41F9-8BBC-3C26DA396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0"/>
            <a:ext cx="1809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2E5EA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9A42ACB-DE5F-4123-B679-BECA5CE77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43100"/>
            <a:ext cx="1581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rPr>
              <a:t>Shared Data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E69DD2-3D60-420A-9844-7B187BDFD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171700"/>
            <a:ext cx="1581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MarketData Hub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B9C111-56F5-483F-9B6A-6EECDA0A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14650"/>
            <a:ext cx="1809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C98A2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C9E796-D905-4AC6-B103-D7BF12BA8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048000"/>
            <a:ext cx="1581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rPr>
              <a:t>Learning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EB716D-57E1-4A34-B35D-ED9665578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276600"/>
            <a:ext cx="1581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Sim, VFL, Opportunity Coach, Gem Mining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0857FB-A56D-459A-A838-263D3C5F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914650"/>
            <a:ext cx="1809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6559B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663160C-A171-4B9C-8021-F61F4303C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48000"/>
            <a:ext cx="1581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rPr>
              <a:t>Discovery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0B7237-13EE-40FC-8EEF-B3262FEC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276600"/>
            <a:ext cx="1581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Edge Discovery Engine, Incubator, Atlas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43EAA1-C674-4F22-BE6C-A41949B40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019550"/>
            <a:ext cx="1809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C8584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3068422-F040-4FD5-9565-5EE33B64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52900"/>
            <a:ext cx="1581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rPr>
              <a:t>Governance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4E92479-0EC4-47A3-AE60-57EC10BC4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381500"/>
            <a:ext cx="1581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Graphify, Guardian, dashboards, postmortems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639D646-22D3-4FA3-94E0-57769A90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0"/>
            <a:ext cx="5924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7E2D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7E2DD"/>
                </a:solidFill>
                <a:latin typeface="Aptos"/>
                <a:ea typeface="Aptos"/>
                <a:cs typeface="Aptos"/>
              </a:rPr>
              <a:t>The Build Week contribution lives in the platform layer: data contracts, governed discovery, edge incubation, and a clearer way to operate autonomous systems.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6feb1592c34f1d"/>
          <a:stretch xmlns:a="http://schemas.openxmlformats.org/drawingml/2006/main"/>
        </p:blipFill>
        <p:spPr>
          <a:xfrm xmlns:a="http://schemas.openxmlformats.org/drawingml/2006/main">
            <a:off x="9399495" y="266700"/>
            <a:ext cx="1679760" cy="1047750"/>
          </a:xfrm>
          <a:prstGeom xmlns:a="http://schemas.openxmlformats.org/drawingml/2006/main" prst="rect">
            <a:avLst/>
          </a:prstGeom>
        </p:spPr>
      </p:pic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EC1CDC-C320-410C-BFC8-968D185CB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01</a:t>
            </a:r>
          </a:p>
        </p:txBody>
      </p:sp>
    </p:spTree>
    <p:extLst>
      <p:ext uri="{BB962C8B-B14F-4D97-AF65-F5344CB8AC3E}">
        <p14:creationId xmlns:p14="http://schemas.microsoft.com/office/powerpoint/2010/main" val="190323101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C30F6C-9819-410E-A109-360253E1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E21113-D8C6-4741-9F3C-5C4A1FE9B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F1D199-C30F-4C92-AAB0-999EC720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51178D-B51D-43A2-AF00-C1D893252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Trading bots fail when research, operation, and governance live in the same box.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8B23E-76D7-43B6-94E2-FEBB66BE7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32385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E8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321BA4-5CF1-4DF3-B07E-05A9D8A03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5715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8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D0D9F-2489-4955-BFE0-2DE20000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05000"/>
            <a:ext cx="2933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Black box behavior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2215B6-A5B6-41AA-819B-78E6B0DC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29146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The same logic decides, executes, interprets results, and makes it nearly impossible to isolate what worked, what failed, and why.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405A3E-FBC4-4025-9C1D-B91CEEAF0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52600"/>
            <a:ext cx="32385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3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79BBE4-864B-49DE-8BB2-E5E85C0C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52600"/>
            <a:ext cx="5715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AB48A-1FAA-475B-9CA8-0D06DE595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905000"/>
            <a:ext cx="2933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Slow learning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4AC41F-92CD-4D30-A3ED-334AD6BD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209800"/>
            <a:ext cx="29146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Without replay, parity, and forensics, every error costs a full session. Teams end up tuning rules by intuition.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F13011-3351-410B-AF5F-3C05D0A6D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752600"/>
            <a:ext cx="32385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1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BA2A0B-11BC-4FA2-A167-8B8256CE9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752600"/>
            <a:ext cx="5715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E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5B17E2-A2C8-4B06-9199-99D03C417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905000"/>
            <a:ext cx="2933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Weak governance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EE17B9-4A67-4883-840D-9493956F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09800"/>
            <a:ext cx="29146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Without contracts, incubation, and decision surfaces, every improvement competes against urgency, memory gaps, and guesswork.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B3E9C2-8CF3-46A2-8B04-A96B4E29C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95850"/>
            <a:ext cx="10096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7D750D-A8DF-409D-8525-883FF445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124450"/>
            <a:ext cx="942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Robo-T-Rader's core thesis is simple: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AE5B27-4D42-445B-BC1E-B836E7DC8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391150"/>
            <a:ext cx="942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separate layers so a team can improve autonomous robots without guessing.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8277B5-25AF-45D0-894E-284662D0B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02</a:t>
            </a:r>
          </a:p>
        </p:txBody>
      </p:sp>
    </p:spTree>
    <p:extLst>
      <p:ext uri="{BB962C8B-B14F-4D97-AF65-F5344CB8AC3E}">
        <p14:creationId xmlns:p14="http://schemas.microsoft.com/office/powerpoint/2010/main" val="101101344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9DFE4B-CD6B-4FF8-B4C2-69472319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DDD63D-D617-4404-8170-6D452A8C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0375B8-E4BE-4B7F-89CD-E42EF35A3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DE9E0B-118B-442E-8333-98FF3115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Robo-T-Rader separates the stack into five layers that can evolve without collapsing into each other.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094E7A-CEE4-42B8-B763-19FCB282D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6210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0"/>
          </a:solidFill>
          <a:ln xmlns:a="http://schemas.openxmlformats.org/drawingml/2006/main" w="0">
            <a:solidFill>
              <a:srgbClr val="EAF4F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AEA99B-E9B7-4DFD-B568-25BC46B1E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00200"/>
            <a:ext cx="1485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01 EXECUTION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150E55-6C00-4B0C-81CA-98B791686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478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0F8A6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1D7E04-7B3C-44D3-A970-D67825D7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81200"/>
            <a:ext cx="986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rPr>
              <a:t>Execution environments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BBB914-424B-41AF-A550-2D8C23D5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09800"/>
            <a:ext cx="986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Dev, Dev-Hetzner, Prod-Hetzner, Naked, F2, Horizon, HorizonMD, and CC operate different styles and horizons.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9D3FA9-85FB-4A74-B2E4-646393F5A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4320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1FA"/>
          </a:solidFill>
          <a:ln xmlns:a="http://schemas.openxmlformats.org/drawingml/2006/main" w="0">
            <a:solidFill>
              <a:srgbClr val="ECF1F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1F451E-1790-4F52-850D-E6C0B8155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1485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2E5EA7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2E5EA7"/>
                </a:solidFill>
                <a:latin typeface="Aptos"/>
                <a:ea typeface="Aptos"/>
                <a:cs typeface="Aptos"/>
              </a:rPr>
              <a:t>02 SHARED DATA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F3FFB8-979D-4E7F-BC7F-1653089A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E5EA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8F9575-8309-4FAF-90ED-72A7528E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62300"/>
            <a:ext cx="986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rPr>
              <a:t>MarketData Hub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F104D0-9D72-442E-ABA9-93AD78EFB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90900"/>
            <a:ext cx="986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Normalizes quotes, candles, readiness, mappings, and watchlist/universe products for multiple consumers.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2CAA51-1F7A-4AC1-AD72-5186E40F5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2430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3"/>
          </a:solidFill>
          <a:ln xmlns:a="http://schemas.openxmlformats.org/drawingml/2006/main" w="0">
            <a:solidFill>
              <a:srgbClr val="FBF3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BD4A99-0546-454E-9AEE-6BE513E5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62400"/>
            <a:ext cx="1485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C98A21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C98A21"/>
                </a:solidFill>
                <a:latin typeface="Aptos"/>
                <a:ea typeface="Aptos"/>
                <a:cs typeface="Aptos"/>
              </a:rPr>
              <a:t>03 LEARNING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D18D1D-3D7C-4CD8-A6BA-8CA18F86D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10050"/>
            <a:ext cx="10096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8A2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EA32AE-2386-43A7-9BAE-4D8649B96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43400"/>
            <a:ext cx="9867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rPr>
              <a:t>Learning and replay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DDF16E-FFD0-47E4-9513-A726576A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72000"/>
            <a:ext cx="986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Sim, MarketSim, Forensics, VFL, Opportunity Coach, and Gem Mining turn live sessions into usable learning.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521F1E-678C-49DE-AC67-ECC00B16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0540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FB"/>
          </a:solidFill>
          <a:ln xmlns:a="http://schemas.openxmlformats.org/drawingml/2006/main" w="0">
            <a:solidFill>
              <a:srgbClr val="F0EEF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5C7FC9-DFC3-47D7-BACD-CCA1A6869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43500"/>
            <a:ext cx="1485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6559B7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559B7"/>
                </a:solidFill>
                <a:latin typeface="Aptos"/>
                <a:ea typeface="Aptos"/>
                <a:cs typeface="Aptos"/>
              </a:rPr>
              <a:t>04 DISCOVERY  +  05 GOVERNANCE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64E6B0-58AC-4A52-A860-CBF7A4F4F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911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6559B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0ED8FC-686E-43B5-B4EC-C379D3098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524500"/>
            <a:ext cx="4724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rPr>
              <a:t>Discovery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9B9839-EA40-4AB1-846F-9482E136B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753100"/>
            <a:ext cx="4724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Edge Discovery Engine, Incubator, and EPIC Atlas search for future edge and stop it from reaching runtime too early.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6450FF-324F-4B2A-AF44-542745363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391150"/>
            <a:ext cx="4953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8584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9DF171-B49B-462D-9878-308B966B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524500"/>
            <a:ext cx="4724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rPr>
              <a:t>Governance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A4C420-4746-4FAF-9727-2B00EAF4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753100"/>
            <a:ext cx="4724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Graphify, Guardian, dashboards, and postmortems make it visible what to prune, maintain, or observe.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95C3C3-4B95-48B1-9ABA-F5B85C52F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719763"/>
            <a:ext cx="76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F5ECA9-ECA6-4F66-B6CD-522FA2D2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676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08DA55-A631-400B-A1FC-D2EC390AB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03</a:t>
            </a:r>
          </a:p>
        </p:txBody>
      </p:sp>
    </p:spTree>
    <p:extLst>
      <p:ext uri="{BB962C8B-B14F-4D97-AF65-F5344CB8AC3E}">
        <p14:creationId xmlns:p14="http://schemas.microsoft.com/office/powerpoint/2010/main" val="137292959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C58622-4193-4868-A8E2-24A0592DD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027950-049A-4CCD-B103-EC265833C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B52C58-1DB2-4F9E-94BD-56431C370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E4F7E8-9A78-4945-8210-83EF4E3DE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value is not in one module. It is in the coordination across 22 modules with clear roles.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A08BFE-F668-40C8-A8D9-92F825174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4780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0"/>
          </a:solidFill>
          <a:ln xmlns:a="http://schemas.openxmlformats.org/drawingml/2006/main" w="0">
            <a:solidFill>
              <a:srgbClr val="EAF4F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478469-A758-4D67-AB9C-FAB071482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85900"/>
            <a:ext cx="1485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MODULE INVENTORY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F1171E-A4E1-4897-B3A9-84043AA7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71650"/>
            <a:ext cx="1666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32C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6869C6-D488-467B-9E5C-D0DCE4B73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47850"/>
            <a:ext cx="147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Module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243AF1-0AA0-457E-A5DA-6FE115084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1771650"/>
            <a:ext cx="133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32C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54B869-F4FB-4C2F-A24B-42AAA0AE3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478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Type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116ADE-5312-481A-A14F-C1A416B68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771650"/>
            <a:ext cx="3000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32C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869FFD-8F8B-4434-93EF-F20A46A45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1847850"/>
            <a:ext cx="28098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Role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6B12EC-746D-4D04-A048-B8E1D815D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771650"/>
            <a:ext cx="447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32C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90FF7E-3CA7-41BA-90BB-2B9F7BCE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847850"/>
            <a:ext cx="428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DC13FC-6963-427C-880E-337C7C6F3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7170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B29ECC-7816-4A76-8FBB-EDC4F0A55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479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Dev / Dev-Hetzner / Prod-Hetzner / Naked / F2 / Horizon / HorizonMD / CC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E68DE0-4D39-4CEA-96A3-625421792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17170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E00C1A-9AA6-4BFC-AEDC-0CC6253A3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24790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execution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2BB389-5A4B-4C96-B14B-5B4D2AA6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171700"/>
            <a:ext cx="3000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04F643-4668-499A-BDEB-F9A22CBB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247900"/>
            <a:ext cx="2809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robots and runtimes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64EE36-5F97-4A3B-810F-7703BA65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17170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9EE1B2-9AE2-4C82-B06E-7D53EE7A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247900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8 operating surfaces with different styles and maturity levels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3C2228-FD0B-4AFD-B609-C5A7BA1C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E64077-8F91-4D82-9289-2EDCBE5F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3845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MarketData Hub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B2EA75-0EDB-4F70-9FE2-71582F7B9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76225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3814411-D226-4141-AD65-FC2AD2F7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83845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shared data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B6DF9A-A5CD-436A-96A8-CB7AD24A7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762250"/>
            <a:ext cx="3000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AF564E-C747-4F1A-AE36-F93D78C8F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838450"/>
            <a:ext cx="2809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quotes, candles, readiness, mappings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282735-7EC2-4A4D-9240-155064425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6225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696EB8-732F-438D-9FA9-F630C8309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38450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turns ingest into a reusable contract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FE89A7-6E8F-4E21-92E3-EB8CDAC1C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5280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37DFFA4-7F17-487F-B4DC-D770F2D7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29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Sim / MarketSim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F98FDC-DE7A-4A0D-8B68-398CED42B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35280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27D60AE-1B32-46AB-8EB1-2E3E31198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42900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learning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6DC2DE-8599-46E8-9522-19094E49D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352800"/>
            <a:ext cx="3000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5937D10-6D52-4209-B74D-4244C2B68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429000"/>
            <a:ext cx="2809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replay and validation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911339A-BEE1-4FCB-AD0C-D0CB482F1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5280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8B5B3FC-E1FB-476C-8977-E62DFA90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29000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lets the team test without touching live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5D53035-48CC-47D1-AB54-7331818C3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4335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CDAEE8A-9D70-4B47-B089-EE39C1C2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1955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VFL / Opportunity Coach / Forensics / Gem Mining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6CB2625-CEE3-49DD-B66C-60DC68D29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94335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F451C05-9A39-45C3-9A53-EACE8AEF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01955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learning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B9CE17C-150D-4FA6-89A2-040643DA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943350"/>
            <a:ext cx="3000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38F7074-D681-49C3-BE22-9146EBCA2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19550"/>
            <a:ext cx="2809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explain and synthesize behavior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BB365E8-7E3D-4DA4-89FE-08B9269B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4335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33A26B1-1754-40C6-94DA-AD959068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019550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turn repeated pain into structured evidence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7D41ED9-4936-4D5C-AFB5-D6D1C3C5E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3390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8630B7B-CF1A-40C8-B303-EAD497E64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101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Edge Discovery Engine / Incubator / EPIC Atlas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A1B2DFF-B8CC-4CBD-A2D3-E75BED617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53390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635EAD4-A48F-490F-A43B-00981642B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61010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discovery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E3A7669-CABE-451B-A729-854512B92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533900"/>
            <a:ext cx="3000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3AD5709-2E6E-48D7-85B6-CAC46ABD5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610100"/>
            <a:ext cx="2809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search for edge and mature it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90C7D1F-B537-4FA6-BFA9-616590EB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3390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7B7B81C-F33F-4149-BEC8-E3879E9CE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610100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avoids jumping from backtest to live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73F7956-1705-49CD-9979-99CFB0F9D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24450"/>
            <a:ext cx="16668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CB77403-B77D-47D2-8E81-D47CDA5CD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0065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Graphify / Guardian / Dashboards / Postmortems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B05C4BB-5E55-464B-94B5-567B7832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512445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DDB1635-63D8-4EB2-9DE9-F7579E344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200650"/>
            <a:ext cx="114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governance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780DAD1-A561-430F-8C40-9B1BD542E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124450"/>
            <a:ext cx="3000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2BCB4DF-F380-4FEA-812D-D6242085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200650"/>
            <a:ext cx="2809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decision surfaces and operational discipline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3AB03AE-8D0F-4771-B0CC-D90A4121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124450"/>
            <a:ext cx="4476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7FF7CEE-1D50-481F-ACA9-C6110CDB2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200650"/>
            <a:ext cx="4286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helps the team decide what to prune, maintain, and observe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C09D733-6CFA-4E8E-A936-3B24A5E9C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19800"/>
            <a:ext cx="1047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Summary: 8 execution environments, 1 shared data plane, 6 learning modules, 3 discovery modules, and 4 governance surfaces.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92BC9A3-3C9B-4FA6-9664-DAF34C542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04</a:t>
            </a:r>
          </a:p>
        </p:txBody>
      </p:sp>
    </p:spTree>
    <p:extLst>
      <p:ext uri="{BB962C8B-B14F-4D97-AF65-F5344CB8AC3E}">
        <p14:creationId xmlns:p14="http://schemas.microsoft.com/office/powerpoint/2010/main" val="82180345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3F52A0-4D49-4BE6-9DF8-5646640E2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0A9A79-A366-415B-8344-C7CB7FCC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EF5D58-12A5-4633-A64B-905CDE19D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SHARED DATA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1B1A59-4500-489B-93D8-6DE3E5B1C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MarketData Hub turns market data into a common interface for multiple consumers.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90D26D-4768-4AC5-A462-1C22691BB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2286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0"/>
          </a:solidFill>
          <a:ln xmlns:a="http://schemas.openxmlformats.org/drawingml/2006/main" w="11430">
            <a:solidFill>
              <a:srgbClr val="0F8A6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AD37FE-D6E4-4B6D-9377-0210CBFE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09800"/>
            <a:ext cx="2057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rPr>
              <a:t>Capital.com / Yahoo / mappings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2FE7C0-E82B-4863-87DA-6183E1259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38400"/>
            <a:ext cx="2057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Internal sources and products for price, status, and coverage.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D1A427-4729-4F17-9D22-27967D5B5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924050"/>
            <a:ext cx="43624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1FA"/>
          </a:solidFill>
          <a:ln xmlns:a="http://schemas.openxmlformats.org/drawingml/2006/main" w="11430">
            <a:solidFill>
              <a:srgbClr val="2E5EA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622A62-1E26-4231-8335-413D16C53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057400"/>
            <a:ext cx="413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rPr>
              <a:t>MarketData Hub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6828D1-0157-4500-89C3-BCB9A30ED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286000"/>
            <a:ext cx="41338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Delivers quotes, candles, readiness, mappings, watchlist, and universe products under one semantic contract.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FC87BF-5EAD-43FD-9A60-B36883DC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20015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FB"/>
          </a:solidFill>
          <a:ln xmlns:a="http://schemas.openxmlformats.org/drawingml/2006/main" w="11430">
            <a:solidFill>
              <a:srgbClr val="6559B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96FA76-B882-45F6-9DF2-33160A05A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333500"/>
            <a:ext cx="1962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rPr>
              <a:t>Prod-Hetzner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983F00-E164-4E5F-BF41-3DF277587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56210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multi-engine runtime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39CF57-FD9B-4819-9FEE-09503955D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3360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3"/>
          </a:solidFill>
          <a:ln xmlns:a="http://schemas.openxmlformats.org/drawingml/2006/main" w="11430">
            <a:solidFill>
              <a:srgbClr val="C98A2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54AFBF-D80F-44E5-AAE8-C863C0868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266950"/>
            <a:ext cx="1962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rPr>
              <a:t>Horizon / HorizonMD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4E9FDE-1A88-4C42-93D7-19906992C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49555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hub consumers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554EB1-BF54-4CAE-B8BE-82FB29407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06705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E8"/>
          </a:solidFill>
          <a:ln xmlns:a="http://schemas.openxmlformats.org/drawingml/2006/main" w="11430">
            <a:solidFill>
              <a:srgbClr val="C8584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D81721-0587-41A5-92EE-DF196ABB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200400"/>
            <a:ext cx="1962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rPr>
              <a:t>Edge Discovery Engine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0DDF28-D8F3-4D1E-8333-C72A14573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42900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backtests and incubation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5B0E95-5937-483F-8002-65A063735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00050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0"/>
          </a:solidFill>
          <a:ln xmlns:a="http://schemas.openxmlformats.org/drawingml/2006/main" w="11430">
            <a:solidFill>
              <a:srgbClr val="0F8A6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95FC34-68C4-49CB-9DDB-F3529023B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133850"/>
            <a:ext cx="1962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rPr>
              <a:t>EPIC Atlas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E9968A-CC8D-4A66-B629-39E4573F1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362450"/>
            <a:ext cx="1962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NYSE candidate tracker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A02FC9-9AC6-4A1C-96A4-58EAECA5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481263"/>
            <a:ext cx="723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67D732-1B06-4D1B-A648-A46CE7EFA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4384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0ADE6F-B4EE-471E-9950-7C5F93A2B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547813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8C5CEB-2740-43C4-B37D-0005FF59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049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7C6293-AA9E-4C00-A637-35325569C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481263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3E40A8-0E59-438B-ADA3-3D9C3A11E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4384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99B343-9F34-4698-97FF-906A375B5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14713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F5C237-AF8A-4DA9-B43A-9F72FA6F9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3718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22855D-6DD5-4010-B97E-7511D7E8B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48163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7E3B3A-3EF7-4C1D-8D37-9B100A68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3053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9B1A3EA-E9BF-4B2B-9F16-1C41527FC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57750"/>
            <a:ext cx="18478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041435-FA5D-4910-B8BE-10710DDA1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577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6836272-B1D4-4AF2-BCD3-0A09FAF0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91100"/>
            <a:ext cx="1581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047A757-D6AA-4DD5-8899-0306EFD6D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24475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data contract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2DC202E-461D-4FFE-971F-193612534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857750"/>
            <a:ext cx="18478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6591B0-1EB1-4C38-9050-032A0E228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8577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E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EFFD151-5810-4733-A8D8-E3985B3A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991100"/>
            <a:ext cx="1581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4+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B035435-4BCC-4A06-9C33-DF09291DB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324475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active consumers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77D0418-F1B2-4207-8277-30366127B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857750"/>
            <a:ext cx="18478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ADB4F8E-0887-4B00-8C26-97019F69F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8577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BB15A29-7127-4795-B22C-835DE783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991100"/>
            <a:ext cx="1581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09FF8D3-F0D0-47BC-BD7B-41CF7CE06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324475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direct credentials in Atlas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4307FD9-4652-4588-B704-3AC2FF3F8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857750"/>
            <a:ext cx="18478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7681F02-F0E5-45C1-96EF-F3443FA40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857750"/>
            <a:ext cx="4762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59B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CAC9BDB-AB4B-434B-864B-B5DDD6EF5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991100"/>
            <a:ext cx="1581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0D86CD1-0022-47FF-BE85-3A58A358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324475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future robots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815214D-9C74-4491-87F0-3AC7D3EC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219700"/>
            <a:ext cx="2247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The advantage is not only reuse. It is shared semantics, quality, and coverage.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04931BF-23D8-45C3-B1A5-162EA5E65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05</a:t>
            </a:r>
          </a:p>
        </p:txBody>
      </p:sp>
    </p:spTree>
    <p:extLst>
      <p:ext uri="{BB962C8B-B14F-4D97-AF65-F5344CB8AC3E}">
        <p14:creationId xmlns:p14="http://schemas.microsoft.com/office/powerpoint/2010/main" val="27948233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ADD711-C061-4471-8FC1-772B8BA3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DD0A8F-6352-48B4-B63F-D08EDB944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A9D804-8BF2-4170-8CC8-E86D804A8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LEARNING 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5545E8-931D-4F82-BCAD-E705FAC5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Losses do not end in PnL. They become replay, explanation, and candidate improvements.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54B36A-1579-420F-8F5F-3172C8C77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0"/>
          </a:solidFill>
          <a:ln xmlns:a="http://schemas.openxmlformats.org/drawingml/2006/main" w="11430">
            <a:solidFill>
              <a:srgbClr val="0F8A6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0D6444-E407-47D1-9F5C-C39CEC908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81300"/>
            <a:ext cx="1447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rPr>
              <a:t>1. Live trade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D60944-002F-4E96-AA23-CD2C53D6F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09900"/>
            <a:ext cx="1447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 real session leaves trades, timing, context, and behavior.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07AC15-C9AC-43DD-8B41-73D5C52F9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67640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1FA"/>
          </a:solidFill>
          <a:ln xmlns:a="http://schemas.openxmlformats.org/drawingml/2006/main" w="11430">
            <a:solidFill>
              <a:srgbClr val="2E5EA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E29E81-9D82-445C-A751-0BE91DE13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809750"/>
            <a:ext cx="1447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rPr>
              <a:t>2. Sim / MarketSim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AA2B73-C574-4C21-9F4B-CDFB049AC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38350"/>
            <a:ext cx="1447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Reproduces the session and separates parity from experimentation.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2CBCC9-683A-4D33-AA2E-41574EF76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4795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3"/>
          </a:solidFill>
          <a:ln xmlns:a="http://schemas.openxmlformats.org/drawingml/2006/main" w="11430">
            <a:solidFill>
              <a:srgbClr val="C98A2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3F4977-FC16-40F8-90F3-D3EBFA0A8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781300"/>
            <a:ext cx="1447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rPr>
              <a:t>3. VFL / Forensics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70DB68-ECF3-4C5B-8E94-F450970C6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09900"/>
            <a:ext cx="1447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Makes price, decisions, MFE/MAE, and diagnostics visible.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18157C-0CAD-43EC-B9F5-0ECFDB21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67640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FB"/>
          </a:solidFill>
          <a:ln xmlns:a="http://schemas.openxmlformats.org/drawingml/2006/main" w="11430">
            <a:solidFill>
              <a:srgbClr val="6559B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B6A0E0-4046-4122-98D6-CD05499B9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809750"/>
            <a:ext cx="1447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rPr>
              <a:t>4. Opportunity Coach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54250B-DAB4-42EF-93C0-C28B263A6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038350"/>
            <a:ext cx="1447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Compares what the robot did versus what it could have seen.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955058-F41A-4747-BDD6-E3090C0F4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64795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E8"/>
          </a:solidFill>
          <a:ln xmlns:a="http://schemas.openxmlformats.org/drawingml/2006/main" w="11430">
            <a:solidFill>
              <a:srgbClr val="C8584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872006-501C-4249-9E72-B8A99802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781300"/>
            <a:ext cx="1447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rPr>
              <a:t>5. Gem Mining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1B6687-BE07-491D-B81D-EE4BFA295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009900"/>
            <a:ext cx="1447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Extracts repeated findings and turns them into candidates.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11E0BE-05DC-4E06-87F1-5ACF656A3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9363" y="3143250"/>
            <a:ext cx="28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FD0CA8-78DB-4294-8752-C3B8231C4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0955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D94CC7-A943-4219-81FD-FCC02BBDD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2963" y="2171700"/>
            <a:ext cx="2857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0C6E8F-DE48-4E2A-AEB3-ACCD1261F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0670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9AA83B-E1AB-44C0-A65C-76DDBB088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6563" y="3143250"/>
            <a:ext cx="285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0BE82D-A5A9-4FFC-A746-01A0B14C7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0955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588D82-C8F4-4089-9E58-F91CCDC66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0163" y="2171700"/>
            <a:ext cx="2857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2B9CC9-D4E1-4755-A6C2-19792CA7B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0670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502C27-309B-429F-8063-8806FBA0D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95800"/>
            <a:ext cx="8572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201FE5-28EC-48DA-B0EC-E7708495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686300"/>
            <a:ext cx="78676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The lab exists for one reason: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A1DD72-0559-40A7-9A8C-3A283E0CF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972050"/>
            <a:ext cx="7867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do not touch live by intuition; promote improvements from reproducible evidence.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FAE8D57-01CB-4C97-96D0-944F614EA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06</a:t>
            </a:r>
          </a:p>
        </p:txBody>
      </p:sp>
    </p:spTree>
    <p:extLst>
      <p:ext uri="{BB962C8B-B14F-4D97-AF65-F5344CB8AC3E}">
        <p14:creationId xmlns:p14="http://schemas.microsoft.com/office/powerpoint/2010/main" val="51707609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3A55EBC-269C-4A8B-8B79-C74C4F0A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D6A951-D349-4261-8E38-E26694C16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C01533-8E0B-4B3F-87BD-75F637DDB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DISCOVERY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5325EF-733F-4FD4-A606-FD6C04868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Edge Discovery Engine, the Incubator, and EPIC Atlas form a governed pipeline for future edge.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7A166D-81B0-4118-989C-81BAC2ED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47900"/>
            <a:ext cx="20002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0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7ABBB7-F3B7-4B1F-9D9E-71D7F0748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47900"/>
            <a:ext cx="571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A97AB8-9097-4F55-82B0-733C3FBFB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00300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Historical discovery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9E6316-45CA-4AAA-A5FA-E948C3430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05100"/>
            <a:ext cx="16764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The Edge Discovery Engine searches history, generates hypotheses, and rejects fragile ideas before runtime.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F5E937-436C-4524-B728-3BA3938C8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47900"/>
            <a:ext cx="20002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1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ED5A5D-17AD-4DF8-B0D0-3097888A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47900"/>
            <a:ext cx="571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E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DAF666-9D1E-4399-94C6-1A5E69DF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400300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Paper incubation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992B70-D014-4A05-B06C-11ECC2885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705100"/>
            <a:ext cx="16764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The Incubator keeps candidates alive but constrained, with contracts, expiry, and kill rules.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3FE839-70CD-4973-B13A-C37D87C91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247900"/>
            <a:ext cx="20002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3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1AA333-74CD-41FB-828C-0DCBA9447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247900"/>
            <a:ext cx="571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8A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9385ED-A598-49CC-97E9-1962F65CA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400300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Atlas expansion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9CE3E3-F548-49BC-BAD0-73A37393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705100"/>
            <a:ext cx="16764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EPIC Atlas tracks candidates outside the current watchlist and routes them into research.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1214B5-5986-4275-9E2A-32004F71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47900"/>
            <a:ext cx="20002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FB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1E816E-EAD1-48CA-B37A-9468A7AF3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47900"/>
            <a:ext cx="571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59B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26518B-8F51-4775-98FE-12E2C6D7E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400300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Governed review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35305E-A6B0-49B8-84EF-4BE85A237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705100"/>
            <a:ext cx="16764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Graphify and human review decide whether to prune, maintain, observe, or promote.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A2C7DB-E4E0-4E6E-8D09-FDFB12A3A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247900"/>
            <a:ext cx="11430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E8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C17596-8671-4998-BE58-199778AC8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247900"/>
            <a:ext cx="571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8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8A3B47-7C5F-490F-AD33-0EFE917D3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2400300"/>
            <a:ext cx="838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Prod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9F4942-ECAA-48FA-B4D1-893590C6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2705100"/>
            <a:ext cx="819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Only sufficiently evidenced ideas should arrive here.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C519CE-9BD5-4C03-8922-F414906E8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033713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35DD25-2C89-4C57-91C1-318CC11C6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908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144163-05BB-4052-A45D-52335F77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033713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D85FDF-EF0F-4511-90CF-18BC2A9AA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9908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7231A2-9CAD-45D7-A339-8C65E5930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33713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8F3BB5-DB89-45D4-8C5D-581C8D6E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908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0421E2-717C-4B9D-BEF6-FF8EBE7D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033713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EE2A650-159A-461A-A0A8-40E6AD35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908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6"/>
          </a:solidFill>
          <a:ln xmlns:a="http://schemas.openxmlformats.org/drawingml/2006/main" w="0">
            <a:solidFill>
              <a:srgbClr val="D8DDD6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5A9B0CE-9C0C-4ECB-9777-72784033F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43400"/>
            <a:ext cx="1095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strong principle is this: finding edge is not enough; the system needs a maturation path.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4260F5C-EFC9-462C-9613-A4603D6C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00600"/>
            <a:ext cx="1009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That is why Atlas does not trade, the Incubator does not auto-promote, and Prod should not inherit ideas without evidence, review, and context.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B05EBDF-87ED-4C95-BB65-EC1D9E4A8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07</a:t>
            </a:r>
          </a:p>
        </p:txBody>
      </p:sp>
    </p:spTree>
    <p:extLst>
      <p:ext uri="{BB962C8B-B14F-4D97-AF65-F5344CB8AC3E}">
        <p14:creationId xmlns:p14="http://schemas.microsoft.com/office/powerpoint/2010/main" val="111343247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DA5EFE-D58A-4188-8584-0324C4D75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305764-F663-4078-AD13-57D9AF7BD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79E873-A41C-4528-B7D2-2F07B736D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GOVERNANCE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425A2C-7550-4E99-A044-017E2176F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Graphify and operational surfaces turn noise into actionable decisions.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981070-BF9A-41E0-9D52-4C6BA77A1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66850"/>
            <a:ext cx="1485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E8"/>
          </a:solidFill>
          <a:ln xmlns:a="http://schemas.openxmlformats.org/drawingml/2006/main" w="0">
            <a:solidFill>
              <a:srgbClr val="F9EC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4E0FB5-CA10-4A0F-8BDD-DE534B92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04950"/>
            <a:ext cx="1485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C85847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C85847"/>
                </a:solidFill>
                <a:latin typeface="Aptos"/>
                <a:ea typeface="Aptos"/>
                <a:cs typeface="Aptos"/>
              </a:rPr>
              <a:t>DECISION SURFACES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EC6FF5-E92C-4342-B565-A63C0B4C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2381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E8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A89CA4-04CE-407A-B21C-44F0284D6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8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68C825-0188-4E65-9A6D-0FD61E7A7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076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Graphify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D2D26B-05AB-4C38-8489-23A4B05B2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2057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Maps robots, edges, factors, blockers, and actions of the day into a decision surface.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5C00D9-3098-463A-8DF1-73DE8547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09750"/>
            <a:ext cx="2381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0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E27320-94B2-4180-91F8-510C63C93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097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F4DC52-C295-4C32-A12F-84EF638C7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76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Guardian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8A6526-3143-4A62-9A54-CAAFFBDF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66950"/>
            <a:ext cx="2057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Runs pre-NYSE, post-NYSE, and night checkpoints for health, debt, and alerts.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9CEFBB-77A0-4320-9DB1-023E5D84C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809750"/>
            <a:ext cx="2381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1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3AFFD4-522A-4541-8896-ECC14F3AE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8097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E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28D232-9DD5-43FC-BBCB-79A345B8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62150"/>
            <a:ext cx="2076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Dashboards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DA5467-DFEA-4EC9-A0A7-410DA161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66950"/>
            <a:ext cx="2057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Compress balances, findings, and pending work into human-readable views.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C01FA9-C727-455A-AAB2-00D819DAD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809750"/>
            <a:ext cx="2381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EFB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27E956-3108-4D40-B133-97D01127B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809750"/>
            <a:ext cx="571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559B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FC4861-680E-4E1F-B9F4-9B9E9339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962150"/>
            <a:ext cx="2076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Postmortems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4CF763-8B40-47B0-8DBA-7C606FF83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266950"/>
            <a:ext cx="20574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Preserve causality so the team does not rely on memory or vibes.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D448E2-3530-42DE-A0DB-4118F7623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10287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32E4E5-84F8-43D4-9EBC-B9785E82E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514850"/>
            <a:ext cx="9601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The outcome that matters is not more observability by itself.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0D1F82-4B02-4DC6-8A0B-4D32B32E6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19650"/>
            <a:ext cx="9601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It is enabling a team to decide more clearly what to touch, what not to touch, and why.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818FE5-884F-436B-BBC0-D39CD3DB0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08</a:t>
            </a:r>
          </a:p>
        </p:txBody>
      </p:sp>
    </p:spTree>
    <p:extLst>
      <p:ext uri="{BB962C8B-B14F-4D97-AF65-F5344CB8AC3E}">
        <p14:creationId xmlns:p14="http://schemas.microsoft.com/office/powerpoint/2010/main" val="205097684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D34EA8-A2A5-4756-B5C6-E433043EC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2E607B-6899-4F8F-9C61-AFC591120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2B24AB-AFE2-4D14-A666-ABC6C90B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F8A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8A6A"/>
                </a:solidFill>
                <a:latin typeface="Aptos"/>
                <a:ea typeface="Aptos"/>
                <a:cs typeface="Aptos"/>
              </a:rPr>
              <a:t>BUILD WEEK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1E3485-6637-4038-B032-E2C6EA043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competition contribution is in the platform layer, not in pretending everything was built from zero.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8517A0-C511-4F2F-BB5F-88EC1FE5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48577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1FA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D63668-0F14-4518-BA3F-371ACB3EA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43100"/>
            <a:ext cx="571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5E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11C803-CF79-4150-B94C-ECFD4E773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95500"/>
            <a:ext cx="4552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What already existed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01A3DA-5EB4-410B-AC0A-D4921F59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00300"/>
            <a:ext cx="45339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multiple live and lab robot environments</a:t>
            </a:r>
          </a:p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demo trading execution</a:t>
            </a:r>
          </a:p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Telegram control and monitoring</a:t>
            </a:r>
          </a:p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replay and postmortem practices</a:t>
            </a:r>
          </a:p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infrastructure across robo-lab and Hetzner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8CAA26-E724-4ADF-8C17-8431C1412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43100"/>
            <a:ext cx="48577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4F0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FD611A-AFEC-40B4-B706-BA6FBBE7A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943100"/>
            <a:ext cx="571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FCE0DD-47D2-41E3-AA94-BA8981F91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4552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What was meaningfully extended during Build Week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5CA2B6-3927-4EB3-BBC3-14FA5AF3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00300"/>
            <a:ext cx="45339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stronger use of MarketData Hub as a shared contract surface</a:t>
            </a:r>
          </a:p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EPIC Atlas integration against Hub contracts</a:t>
            </a:r>
          </a:p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clearer edge discovery and incubation workflow</a:t>
            </a:r>
          </a:p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competition-grade documentation and public repository packaging</a:t>
            </a:r>
          </a:p>
          <a:p xmlns:a="http://schemas.openxmlformats.org/drawingml/2006/main">
            <a:pPr algn="l">
              <a:defRPr sz="938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- a cleaner platform narrative for judges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F3EF0B-3DC9-4CF8-8DE0-274C2E9A0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67300"/>
            <a:ext cx="9334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7CF143-78FA-41C3-A97D-4988C2D97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276850"/>
            <a:ext cx="8724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Honest framing: pre-existing system, new platform extension, documented during Build Week.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34C8DD-805F-4615-83FF-99EF28EA1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09</a:t>
            </a:r>
          </a:p>
        </p:txBody>
      </p:sp>
    </p:spTree>
    <p:extLst>
      <p:ext uri="{BB962C8B-B14F-4D97-AF65-F5344CB8AC3E}">
        <p14:creationId xmlns:p14="http://schemas.microsoft.com/office/powerpoint/2010/main" val="95865446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59A5F9-A54A-4063-8F5A-BA648BDD9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D53BF2-A295-4FC8-BB4C-3559A70A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A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3C3B50-108B-43DC-9910-FF53439BD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2900"/>
            <a:ext cx="342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DE0C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DE0C7"/>
                </a:solidFill>
                <a:latin typeface="Aptos"/>
                <a:ea typeface="Aptos"/>
                <a:cs typeface="Aptos"/>
              </a:rPr>
              <a:t>DEMO PATH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82C6E8-60EE-40C7-9A7B-139EDA9B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clearest way to understand Robo-T-Rader is to follow one concrete path through Prod-Hetzner and its satellite modules.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7EAE12-34A4-43D2-91A1-1C62ADD0E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171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0F8A6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A7DC7B-C811-4ECB-AA0A-34DEBBD78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95550"/>
            <a:ext cx="1485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F8A6A"/>
                </a:solidFill>
                <a:latin typeface="Aptos Display"/>
                <a:ea typeface="Aptos Display"/>
                <a:cs typeface="Aptos Display"/>
              </a:rPr>
              <a:t>1. Prod-Hetzner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828BE2-7D26-4646-A1CC-F232F6E85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24150"/>
            <a:ext cx="1485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the multi-engine runtime that now represents the operational face of the platform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151766-4126-42A8-805C-174E0261D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362200"/>
            <a:ext cx="171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2E5EA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3C0BBD-584C-40EB-A460-D0DE19E09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495550"/>
            <a:ext cx="1485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2E5EA7"/>
                </a:solidFill>
                <a:latin typeface="Aptos Display"/>
                <a:ea typeface="Aptos Display"/>
                <a:cs typeface="Aptos Display"/>
              </a:rPr>
              <a:t>2. Hub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D08F16-8643-4271-8A78-74121143E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724150"/>
            <a:ext cx="1485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the shared data plane for quotes, candles, readiness, and mappings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A94ED6-95D6-480E-A5A9-C887DD857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62200"/>
            <a:ext cx="171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C98A2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F3B0BF-D20E-4C13-9073-83469ABC8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495550"/>
            <a:ext cx="1485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98A21"/>
                </a:solidFill>
                <a:latin typeface="Aptos Display"/>
                <a:ea typeface="Aptos Display"/>
                <a:cs typeface="Aptos Display"/>
              </a:rPr>
              <a:t>3. Sim / VFL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A3473C-C01F-4258-A622-B9D125F2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724150"/>
            <a:ext cx="1485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replay and visual review whenever behavior deserves investigation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887CB4-D18B-4F8A-AB6D-350ADBB6E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362200"/>
            <a:ext cx="171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6559B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96EE86-929E-415A-8785-2082FA4CF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495550"/>
            <a:ext cx="14859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6559B7"/>
                </a:solidFill>
                <a:latin typeface="Aptos Display"/>
                <a:ea typeface="Aptos Display"/>
                <a:cs typeface="Aptos Display"/>
              </a:rPr>
              <a:t>4. Graphify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FBFA54-F953-4A04-911F-88CF93FA1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24150"/>
            <a:ext cx="14859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the decision surface that summarizes edges, blockers, and priorities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67E26C-977C-422A-A362-52FB2298D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362200"/>
            <a:ext cx="14097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028"/>
          </a:solidFill>
          <a:ln xmlns:a="http://schemas.openxmlformats.org/drawingml/2006/main" w="11430">
            <a:solidFill>
              <a:srgbClr val="C8584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9457D1-D2D3-45D3-A818-8F7F1BD40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495550"/>
            <a:ext cx="1181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85847"/>
                </a:solidFill>
                <a:latin typeface="Aptos Display"/>
                <a:ea typeface="Aptos Display"/>
                <a:cs typeface="Aptos Display"/>
              </a:rPr>
              <a:t>5. Atlas / Discovery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7A61A6-95C6-42AA-8C1C-BCAD889E4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724150"/>
            <a:ext cx="1181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the pipeline for what comes next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79D5C0-CB59-43F4-A510-283FBDE88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805113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74"/>
          </a:solidFill>
          <a:ln xmlns:a="http://schemas.openxmlformats.org/drawingml/2006/main" w="0">
            <a:solidFill>
              <a:srgbClr val="6F7A7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FC7F9F-C063-4126-9A43-40140B58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762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74"/>
          </a:solidFill>
          <a:ln xmlns:a="http://schemas.openxmlformats.org/drawingml/2006/main" w="0">
            <a:solidFill>
              <a:srgbClr val="6F7A7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72225C-277E-4CFD-824E-C5500E65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805113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74"/>
          </a:solidFill>
          <a:ln xmlns:a="http://schemas.openxmlformats.org/drawingml/2006/main" w="0">
            <a:solidFill>
              <a:srgbClr val="6F7A7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A567B4-6E81-45A4-B310-E5A0903B3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762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74"/>
          </a:solidFill>
          <a:ln xmlns:a="http://schemas.openxmlformats.org/drawingml/2006/main" w="0">
            <a:solidFill>
              <a:srgbClr val="6F7A7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FD44CB-13E9-4E03-8B75-6FC55FA26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05113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74"/>
          </a:solidFill>
          <a:ln xmlns:a="http://schemas.openxmlformats.org/drawingml/2006/main" w="0">
            <a:solidFill>
              <a:srgbClr val="6F7A7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472AB2-1117-4713-989F-403B363C7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762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74"/>
          </a:solidFill>
          <a:ln xmlns:a="http://schemas.openxmlformats.org/drawingml/2006/main" w="0">
            <a:solidFill>
              <a:srgbClr val="6F7A7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BBD894-1E31-45E5-9C77-124C42446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805113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74"/>
          </a:solidFill>
          <a:ln xmlns:a="http://schemas.openxmlformats.org/drawingml/2006/main" w="0">
            <a:solidFill>
              <a:srgbClr val="6F7A7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740654-93A9-4461-83C4-BDA3F6C3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762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7A74"/>
          </a:solidFill>
          <a:ln xmlns:a="http://schemas.openxmlformats.org/drawingml/2006/main" w="0">
            <a:solidFill>
              <a:srgbClr val="6F7A7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98FF2B-9C97-46FF-98F9-87C11A37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24300"/>
            <a:ext cx="9525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Recommended category: Work &amp; Productivity.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A65AD3-84BE-4F14-A56E-08693F543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57700"/>
            <a:ext cx="8001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7E2D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7E2DD"/>
                </a:solidFill>
                <a:latin typeface="Aptos"/>
                <a:ea typeface="Aptos"/>
                <a:cs typeface="Aptos"/>
              </a:rPr>
              <a:t>The strongest value is not a single trade. It is turning research, data, incubation, and governance into a workflow that a team can use to improve real autonomous systems.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B372F2-CA17-4CD7-AC07-90944644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10250"/>
            <a:ext cx="476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DE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DE0C7"/>
                </a:solidFill>
                <a:latin typeface="Aptos"/>
                <a:ea typeface="Aptos"/>
                <a:cs typeface="Aptos"/>
              </a:rPr>
              <a:t>Public repo: github.com/lmfranchini/robo-t-rader-platform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f8ded4f3594e8b"/>
          <a:stretch xmlns:a="http://schemas.openxmlformats.org/drawingml/2006/main"/>
        </p:blipFill>
        <p:spPr>
          <a:xfrm xmlns:a="http://schemas.openxmlformats.org/drawingml/2006/main">
            <a:off x="9409326" y="5000625"/>
            <a:ext cx="1374349" cy="857250"/>
          </a:xfrm>
          <a:prstGeom xmlns:a="http://schemas.openxmlformats.org/drawingml/2006/main" prst="rect">
            <a:avLst/>
          </a:prstGeom>
        </p:spPr>
      </p:pic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D398960-EE3B-478B-9D84-B145F3411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5151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F6B64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F6B64"/>
                </a:solidFill>
                <a:latin typeface="Aptos"/>
                <a:ea typeface="Aptos"/>
                <a:cs typeface="Aptos"/>
              </a:rPr>
              <a:t>Robo-T-Rader Build Week  |  10</a:t>
            </a:r>
          </a:p>
        </p:txBody>
      </p:sp>
    </p:spTree>
    <p:extLst>
      <p:ext uri="{BB962C8B-B14F-4D97-AF65-F5344CB8AC3E}">
        <p14:creationId xmlns:p14="http://schemas.microsoft.com/office/powerpoint/2010/main" val="14831219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2026-07-18T18:25:51.2490000Z</dcterms:created>
  <dcterms:modified xsi:type="dcterms:W3CDTF">2026-07-18T18:25:51.2490000Z</dcterms:modified>
</coreProperties>
</file>